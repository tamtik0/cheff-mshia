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50" d="100"/>
          <a:sy n="50" d="100"/>
        </p:scale>
        <p:origin x="-115" y="6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ta termakozashvili" userId="b55c977a23aea470" providerId="LiveId" clId="{436E2765-51B1-4515-9B10-AF5455A5D4D3}"/>
    <pc:docChg chg="undo custSel modSld">
      <pc:chgData name="tamta termakozashvili" userId="b55c977a23aea470" providerId="LiveId" clId="{436E2765-51B1-4515-9B10-AF5455A5D4D3}" dt="2026-07-12T14:07:26.810" v="4" actId="1036"/>
      <pc:docMkLst>
        <pc:docMk/>
      </pc:docMkLst>
      <pc:sldChg chg="modSp mod">
        <pc:chgData name="tamta termakozashvili" userId="b55c977a23aea470" providerId="LiveId" clId="{436E2765-51B1-4515-9B10-AF5455A5D4D3}" dt="2026-07-12T14:07:26.810" v="4" actId="1036"/>
        <pc:sldMkLst>
          <pc:docMk/>
          <pc:sldMk cId="0" sldId="257"/>
        </pc:sldMkLst>
        <pc:spChg chg="mod">
          <ac:chgData name="tamta termakozashvili" userId="b55c977a23aea470" providerId="LiveId" clId="{436E2765-51B1-4515-9B10-AF5455A5D4D3}" dt="2026-07-12T14:07:26.810" v="4" actId="1036"/>
          <ac:spMkLst>
            <pc:docMk/>
            <pc:sldMk cId="0" sldId="257"/>
            <ac:spMk id="4" creationId="{00000000-0000-0000-0000-000000000000}"/>
          </ac:spMkLst>
        </pc:spChg>
        <pc:spChg chg="mod">
          <ac:chgData name="tamta termakozashvili" userId="b55c977a23aea470" providerId="LiveId" clId="{436E2765-51B1-4515-9B10-AF5455A5D4D3}" dt="2026-07-12T09:58:36.922" v="3"/>
          <ac:spMkLst>
            <pc:docMk/>
            <pc:sldMk cId="0" sldId="257"/>
            <ac:spMk id="9"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Gemini API (s)</c:v>
                </c:pt>
              </c:strCache>
            </c:strRef>
          </c:tx>
          <c:spPr>
            <a:solidFill>
              <a:srgbClr val="8E1F2F"/>
            </a:solidFill>
            <a:effectLst/>
          </c:spPr>
          <c:invertIfNegative val="0"/>
          <c:dLbls>
            <c:numFmt formatCode="#,##0" sourceLinked="0"/>
            <c:spPr>
              <a:noFill/>
              <a:ln>
                <a:noFill/>
              </a:ln>
              <a:effectLst/>
            </c:spPr>
            <c:txPr>
              <a:bodyPr/>
              <a:lstStyle/>
              <a:p>
                <a:pPr>
                  <a:defRPr sz="800" b="0" i="0" u="none" strike="noStrike">
                    <a:solidFill>
                      <a:srgbClr val="2A0D1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500</c:v>
                </c:pt>
                <c:pt idx="1">
                  <c:v>1,500</c:v>
                </c:pt>
                <c:pt idx="2">
                  <c:v>3,000</c:v>
                </c:pt>
                <c:pt idx="3">
                  <c:v>4,000</c:v>
                </c:pt>
              </c:strCache>
            </c:strRef>
          </c:cat>
          <c:val>
            <c:numRef>
              <c:f>Sheet1!$B$2:$B$5</c:f>
              <c:numCache>
                <c:formatCode>General</c:formatCode>
                <c:ptCount val="4"/>
                <c:pt idx="0">
                  <c:v>1.84</c:v>
                </c:pt>
                <c:pt idx="1">
                  <c:v>2.4500000000000002</c:v>
                </c:pt>
                <c:pt idx="2">
                  <c:v>3.1</c:v>
                </c:pt>
                <c:pt idx="3">
                  <c:v>4.1500000000000004</c:v>
                </c:pt>
              </c:numCache>
            </c:numRef>
          </c:val>
          <c:extLst>
            <c:ext xmlns:c16="http://schemas.microsoft.com/office/drawing/2014/chart" uri="{C3380CC4-5D6E-409C-BE32-E72D297353CC}">
              <c16:uniqueId val="{00000000-D49A-43D1-803D-979CB79C3F26}"/>
            </c:ext>
          </c:extLst>
        </c:ser>
        <c:ser>
          <c:idx val="1"/>
          <c:order val="1"/>
          <c:tx>
            <c:strRef>
              <c:f>Sheet1!$C$1</c:f>
              <c:strCache>
                <c:ptCount val="1"/>
                <c:pt idx="0">
                  <c:v>Groq / Llama (s)</c:v>
                </c:pt>
              </c:strCache>
            </c:strRef>
          </c:tx>
          <c:spPr>
            <a:solidFill>
              <a:srgbClr val="B23A4E"/>
            </a:solidFill>
            <a:effectLst/>
          </c:spPr>
          <c:invertIfNegative val="0"/>
          <c:dLbls>
            <c:numFmt formatCode="#,##0" sourceLinked="0"/>
            <c:spPr>
              <a:noFill/>
              <a:ln>
                <a:noFill/>
              </a:ln>
              <a:effectLst/>
            </c:spPr>
            <c:txPr>
              <a:bodyPr/>
              <a:lstStyle/>
              <a:p>
                <a:pPr>
                  <a:defRPr sz="800" b="0" i="0" u="none" strike="noStrike">
                    <a:solidFill>
                      <a:srgbClr val="2A0D1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500</c:v>
                </c:pt>
                <c:pt idx="1">
                  <c:v>1,500</c:v>
                </c:pt>
                <c:pt idx="2">
                  <c:v>3,000</c:v>
                </c:pt>
                <c:pt idx="3">
                  <c:v>4,000</c:v>
                </c:pt>
              </c:strCache>
            </c:strRef>
          </c:cat>
          <c:val>
            <c:numRef>
              <c:f>Sheet1!$C$2:$C$5</c:f>
              <c:numCache>
                <c:formatCode>General</c:formatCode>
                <c:ptCount val="4"/>
                <c:pt idx="0">
                  <c:v>0.38</c:v>
                </c:pt>
                <c:pt idx="1">
                  <c:v>0.62</c:v>
                </c:pt>
                <c:pt idx="2">
                  <c:v>0.89</c:v>
                </c:pt>
                <c:pt idx="3">
                  <c:v>1.1200000000000001</c:v>
                </c:pt>
              </c:numCache>
            </c:numRef>
          </c:val>
          <c:extLst>
            <c:ext xmlns:c16="http://schemas.microsoft.com/office/drawing/2014/chart" uri="{C3380CC4-5D6E-409C-BE32-E72D297353CC}">
              <c16:uniqueId val="{00000001-D49A-43D1-803D-979CB79C3F2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title>
          <c:tx>
            <c:rich>
              <a:bodyPr/>
              <a:lstStyle/>
              <a:p>
                <a:pPr>
                  <a:defRPr sz="850" b="0" i="0" u="none" strike="noStrike">
                    <a:solidFill>
                      <a:srgbClr val="6B4B47"/>
                    </a:solidFill>
                    <a:latin typeface="Arial"/>
                  </a:defRPr>
                </a:pPr>
                <a:r>
                  <a:rPr lang="en-US" sz="850" b="0" i="0" u="none" strike="noStrike">
                    <a:solidFill>
                      <a:srgbClr val="6B4B47"/>
                    </a:solidFill>
                    <a:latin typeface="Arial"/>
                  </a:rPr>
                  <a:t>Context length (characters)</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850" b="0" i="0" u="none" strike="noStrike">
                <a:solidFill>
                  <a:srgbClr val="6B4B4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D9CE"/>
              </a:solidFill>
              <a:prstDash val="solid"/>
              <a:round/>
            </a:ln>
          </c:spPr>
        </c:majorGridlines>
        <c:title>
          <c:tx>
            <c:rich>
              <a:bodyPr/>
              <a:lstStyle/>
              <a:p>
                <a:pPr>
                  <a:defRPr sz="850" b="0" i="0" u="none" strike="noStrike">
                    <a:solidFill>
                      <a:srgbClr val="6B4B47"/>
                    </a:solidFill>
                    <a:latin typeface="Arial"/>
                  </a:defRPr>
                </a:pPr>
                <a:r>
                  <a:rPr lang="en-US" sz="850" b="0" i="0" u="none" strike="noStrike">
                    <a:solidFill>
                      <a:srgbClr val="6B4B47"/>
                    </a:solidFill>
                    <a:latin typeface="Arial"/>
                  </a:rPr>
                  <a:t>Response time (s)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6B4B47"/>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900">
              <a:solidFill>
                <a:srgbClr val="2A0D10"/>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85755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a joint defense of two complementary bachelor's theses on the Cheff Mshia system: adaptive backend memory and AI integration, and frontend interface architecture.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engineering problems motivated this system. On the backend side, large language models are trained on English-dominant web corpora, leaving Georgian, a long-tail language of roughly four million speakers, poorly represented; because model weights are static after training, corrections cannot persist across turns. On the frontend side, legacy culinary software depends on rigid keyword-based schemas that fail on unstructured natural-language requests, and must additionally remain usable in a low-light kitchen environment where text of unpredictable length and script must not break the layout.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application follows a Model-View-Controller separation of concerns. The Model, a JSON-based persistence layer for chat history, favorites, and corrected recipes, is the subject of Tamta's thesis. The View, the Jinja2 templates and the entire Gothic Kitchen design system, is the subject of Nino's thesis. The Controller, a minimal Flask layer connecting the two, is shared implementation. This separation allowed each thesis to be developed, tested, and evaluated independently.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implementation centers on three components. The Recipe Correction Memory Engine detects correction markers in the user's message, de-duplicates by subject, and persists the correction for injection into every future prompt. The language detection module applies a two-tier strategy — explicit keyword override, then dominant-script analysis over the Georgian Unicode block — with linear overall complexity. Inference runs on Groq's Llama-3.3-70b-versatile model, which combines Grouped-Query Attention with purpose-built LPU hardware for deterministic, low-variance token generation.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frontend is a hand-built, framework-free interface organized around the Gothic Kitchen design system, with colour and spacing values centralized as CSS custom properties for high-contrast legibility under poor kitchen lighting. The viewport is partitioned into a spatial zoning model: a primary conversational area, a favorites shortcut, and a navigation sidebar. Because AI-generated replies vary unpredictably in length and script, every container is built with content-driven, non-fixed-height sizing. The methodology chapter's own complexity analysis, hash-based retrieval, sliding-window context management, and JSON serialization, mirrors the backend's independently derived figures.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surfaced four defects with direct architectural consequences. First, contextual memory volatility: corrections were acknowledged but not retained across turns. Second, inference latency and rate-limiting under the initial Gemini integration. Third, a session data isolation vulnerability, discovered through concurrent normal and incognito browser testing, that exposed one user's history to another session. Fourth, a frontend defect: unpredictable AI-generated text length threatened to overflow fixed-layout chat containers. A comprehensive log of sixteen defects in total is documented in the backend thesis.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defect maps to a specific remediation. The memory engine resolves contextual volatility. Migration to Groq resolves the latency and rate-limiting problem, delivering an average latency reduction of approximately seventy-four point five percent and a full request success rate. The isolation vulnerability was resolved by requiring a user_id field on every record and routing all reads through scoped functions. The overflow defect was resolved with content-driven CSS containers, verified across three viewport widths. Across both theses, the shared lesson is that duplicating a code structure duplicates its inherent defects — this is precisely how the favorites-route vulnerability was introduced.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Quantitative results confirm both halves of the system. On the backend, migrating to Groq produced an average latency reduction of seventy-four point five percent across four tested context lengths, with a full request success rate, sub-1.2-millisecond file reads, sub-4.5-millisecond writes, a stable forty-two-megabyte memory footprint, and zero confirmed cross-session leaks. On the frontend, end-to-end latency across one hundred interactions averaged two hundred ninety milliseconds with a standard deviation of eighteen milliseconds; all seven functional test cases passed, and WCAG AA contrast was verified at desktop, tablet, and mobile viewport widths.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conclusion, this project demonstrates that personalized accuracy in a low-resource culinary domain does not require parameter-level model retraining, and that an accessible, low-latency interface does not require an external framework. Both results validate the zero-cost architectural constraints established at the outset. Future work spans both theses: migration to PostgreSQL for concurrency-safe storage, a component-based front-end architecture, asynchronous request handling, and an expanded factual dataset for Georgian cuisine.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We welcome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41016"/>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
          </a:xfrm>
          <a:prstGeom prst="rect">
            <a:avLst/>
          </a:prstGeom>
          <a:solidFill>
            <a:srgbClr val="8E1F2F"/>
          </a:solidFill>
          <a:ln/>
        </p:spPr>
      </p:sp>
      <p:sp>
        <p:nvSpPr>
          <p:cNvPr id="3" name="Shape 1"/>
          <p:cNvSpPr/>
          <p:nvPr/>
        </p:nvSpPr>
        <p:spPr>
          <a:xfrm>
            <a:off x="9052560" y="-2194560"/>
            <a:ext cx="5669280" cy="5669280"/>
          </a:xfrm>
          <a:prstGeom prst="ellipse">
            <a:avLst/>
          </a:prstGeom>
          <a:solidFill>
            <a:srgbClr val="8E1F2F">
              <a:alpha val="38000"/>
            </a:srgbClr>
          </a:solidFill>
          <a:ln/>
        </p:spPr>
      </p:sp>
      <p:sp>
        <p:nvSpPr>
          <p:cNvPr id="4" name="Shape 2"/>
          <p:cNvSpPr/>
          <p:nvPr/>
        </p:nvSpPr>
        <p:spPr>
          <a:xfrm>
            <a:off x="-2011680" y="4480560"/>
            <a:ext cx="4389120" cy="4389120"/>
          </a:xfrm>
          <a:prstGeom prst="ellipse">
            <a:avLst/>
          </a:prstGeom>
          <a:solidFill>
            <a:srgbClr val="8E1F2F">
              <a:alpha val="28000"/>
            </a:srgbClr>
          </a:solidFill>
          <a:ln/>
        </p:spPr>
      </p:sp>
      <p:pic>
        <p:nvPicPr>
          <p:cNvPr id="5" name="Image 0" descr="images/logo.png"/>
          <p:cNvPicPr>
            <a:picLocks noChangeAspect="1"/>
          </p:cNvPicPr>
          <p:nvPr/>
        </p:nvPicPr>
        <p:blipFill>
          <a:blip r:embed="rId3"/>
          <a:stretch>
            <a:fillRect/>
          </a:stretch>
        </p:blipFill>
        <p:spPr>
          <a:xfrm>
            <a:off x="640080" y="502920"/>
            <a:ext cx="841248" cy="740664"/>
          </a:xfrm>
          <a:prstGeom prst="rect">
            <a:avLst/>
          </a:prstGeom>
        </p:spPr>
      </p:pic>
      <p:sp>
        <p:nvSpPr>
          <p:cNvPr id="6" name="Text 3"/>
          <p:cNvSpPr/>
          <p:nvPr/>
        </p:nvSpPr>
        <p:spPr>
          <a:xfrm>
            <a:off x="1645920" y="603504"/>
            <a:ext cx="6400800" cy="365760"/>
          </a:xfrm>
          <a:prstGeom prst="rect">
            <a:avLst/>
          </a:prstGeom>
          <a:noFill/>
          <a:ln/>
        </p:spPr>
        <p:txBody>
          <a:bodyPr wrap="square" lIns="0" tIns="0" rIns="0" bIns="0" rtlCol="0" anchor="ctr"/>
          <a:lstStyle/>
          <a:p>
            <a:pPr marL="0" indent="0">
              <a:buNone/>
            </a:pPr>
            <a:r>
              <a:rPr lang="en-US" sz="1150" b="1" kern="0" spc="200" dirty="0">
                <a:solidFill>
                  <a:srgbClr val="B23A4E"/>
                </a:solidFill>
                <a:latin typeface="Calibri" pitchFamily="34" charset="0"/>
                <a:ea typeface="Calibri" pitchFamily="34" charset="-122"/>
                <a:cs typeface="Calibri" pitchFamily="34" charset="-120"/>
              </a:rPr>
              <a:t>GEORGIAN TECHNICAL UNIVERSITY</a:t>
            </a:r>
            <a:endParaRPr lang="en-US" sz="1150" dirty="0"/>
          </a:p>
        </p:txBody>
      </p:sp>
      <p:sp>
        <p:nvSpPr>
          <p:cNvPr id="7" name="Text 4"/>
          <p:cNvSpPr/>
          <p:nvPr/>
        </p:nvSpPr>
        <p:spPr>
          <a:xfrm>
            <a:off x="640080" y="1783080"/>
            <a:ext cx="10515600" cy="109728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Cheff Mshia</a:t>
            </a:r>
            <a:endParaRPr lang="en-US" sz="4800" dirty="0"/>
          </a:p>
        </p:txBody>
      </p:sp>
      <p:sp>
        <p:nvSpPr>
          <p:cNvPr id="8" name="Text 5"/>
          <p:cNvSpPr/>
          <p:nvPr/>
        </p:nvSpPr>
        <p:spPr>
          <a:xfrm>
            <a:off x="640080" y="2724912"/>
            <a:ext cx="10241280" cy="640080"/>
          </a:xfrm>
          <a:prstGeom prst="rect">
            <a:avLst/>
          </a:prstGeom>
          <a:noFill/>
          <a:ln/>
        </p:spPr>
        <p:txBody>
          <a:bodyPr wrap="square" lIns="0" tIns="0" rIns="0" bIns="0" rtlCol="0" anchor="ctr"/>
          <a:lstStyle/>
          <a:p>
            <a:pPr marL="0" indent="0">
              <a:buNone/>
            </a:pPr>
            <a:r>
              <a:rPr lang="en-US" sz="1750" dirty="0">
                <a:solidFill>
                  <a:srgbClr val="E9D4CE"/>
                </a:solidFill>
                <a:latin typeface="Calibri" pitchFamily="34" charset="0"/>
                <a:ea typeface="Calibri" pitchFamily="34" charset="-122"/>
                <a:cs typeface="Calibri" pitchFamily="34" charset="-120"/>
              </a:rPr>
              <a:t>Adaptive Memory and Interface Architecture for an AI-Driven Culinary Assistant</a:t>
            </a:r>
            <a:endParaRPr lang="en-US" sz="1750" dirty="0"/>
          </a:p>
        </p:txBody>
      </p:sp>
      <p:sp>
        <p:nvSpPr>
          <p:cNvPr id="9" name="Shape 6"/>
          <p:cNvSpPr/>
          <p:nvPr/>
        </p:nvSpPr>
        <p:spPr>
          <a:xfrm>
            <a:off x="685800" y="3456432"/>
            <a:ext cx="1280160" cy="0"/>
          </a:xfrm>
          <a:prstGeom prst="line">
            <a:avLst/>
          </a:prstGeom>
          <a:noFill/>
          <a:ln w="38100">
            <a:solidFill>
              <a:srgbClr val="B23A4E"/>
            </a:solidFill>
            <a:prstDash val="solid"/>
          </a:ln>
        </p:spPr>
      </p:sp>
      <p:sp>
        <p:nvSpPr>
          <p:cNvPr id="10" name="Shape 7"/>
          <p:cNvSpPr/>
          <p:nvPr/>
        </p:nvSpPr>
        <p:spPr>
          <a:xfrm>
            <a:off x="640080" y="3749040"/>
            <a:ext cx="5120640" cy="1417320"/>
          </a:xfrm>
          <a:prstGeom prst="roundRect">
            <a:avLst>
              <a:gd name="adj" fmla="val 3871"/>
            </a:avLst>
          </a:prstGeom>
          <a:solidFill>
            <a:srgbClr val="6E1620"/>
          </a:solidFill>
          <a:ln/>
        </p:spPr>
      </p:sp>
      <p:sp>
        <p:nvSpPr>
          <p:cNvPr id="11" name="Text 8"/>
          <p:cNvSpPr/>
          <p:nvPr/>
        </p:nvSpPr>
        <p:spPr>
          <a:xfrm>
            <a:off x="868680" y="3886200"/>
            <a:ext cx="4663440" cy="274320"/>
          </a:xfrm>
          <a:prstGeom prst="rect">
            <a:avLst/>
          </a:prstGeom>
          <a:noFill/>
          <a:ln/>
        </p:spPr>
        <p:txBody>
          <a:bodyPr wrap="square" lIns="0" tIns="0" rIns="0" bIns="0" rtlCol="0" anchor="ctr"/>
          <a:lstStyle/>
          <a:p>
            <a:pPr marL="0" indent="0">
              <a:buNone/>
            </a:pPr>
            <a:r>
              <a:rPr lang="en-US" sz="1050" b="1" kern="0" spc="150" dirty="0">
                <a:solidFill>
                  <a:srgbClr val="B23A4E"/>
                </a:solidFill>
                <a:latin typeface="Calibri" pitchFamily="34" charset="0"/>
                <a:ea typeface="Calibri" pitchFamily="34" charset="-122"/>
                <a:cs typeface="Calibri" pitchFamily="34" charset="-120"/>
              </a:rPr>
              <a:t>BACKEND &amp; AI MEMORY SYSTEMS</a:t>
            </a:r>
            <a:endParaRPr lang="en-US" sz="1050" dirty="0"/>
          </a:p>
        </p:txBody>
      </p:sp>
      <p:sp>
        <p:nvSpPr>
          <p:cNvPr id="12" name="Text 9"/>
          <p:cNvSpPr/>
          <p:nvPr/>
        </p:nvSpPr>
        <p:spPr>
          <a:xfrm>
            <a:off x="868680" y="4178808"/>
            <a:ext cx="46634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Tamta Termakozashvili</a:t>
            </a:r>
            <a:endParaRPr lang="en-US" sz="1600" dirty="0"/>
          </a:p>
        </p:txBody>
      </p:sp>
      <p:sp>
        <p:nvSpPr>
          <p:cNvPr id="13" name="Text 10"/>
          <p:cNvSpPr/>
          <p:nvPr/>
        </p:nvSpPr>
        <p:spPr>
          <a:xfrm>
            <a:off x="868680" y="4572000"/>
            <a:ext cx="4709160" cy="548640"/>
          </a:xfrm>
          <a:prstGeom prst="rect">
            <a:avLst/>
          </a:prstGeom>
          <a:noFill/>
          <a:ln/>
        </p:spPr>
        <p:txBody>
          <a:bodyPr wrap="square" lIns="0" tIns="0" rIns="0" bIns="0" rtlCol="0" anchor="ctr"/>
          <a:lstStyle/>
          <a:p>
            <a:pPr marL="0" indent="0">
              <a:buNone/>
            </a:pPr>
            <a:r>
              <a:rPr lang="en-US" sz="1050" dirty="0">
                <a:solidFill>
                  <a:srgbClr val="D9C4BE"/>
                </a:solidFill>
                <a:latin typeface="Calibri" pitchFamily="34" charset="0"/>
                <a:ea typeface="Calibri" pitchFamily="34" charset="-122"/>
                <a:cs typeface="Calibri" pitchFamily="34" charset="-120"/>
              </a:rPr>
              <a:t>Adaptive correction memory, language detection, inference pipeline</a:t>
            </a:r>
            <a:endParaRPr lang="en-US" sz="1050" dirty="0"/>
          </a:p>
        </p:txBody>
      </p:sp>
      <p:sp>
        <p:nvSpPr>
          <p:cNvPr id="14" name="Shape 11"/>
          <p:cNvSpPr/>
          <p:nvPr/>
        </p:nvSpPr>
        <p:spPr>
          <a:xfrm>
            <a:off x="5943600" y="3749040"/>
            <a:ext cx="5120640" cy="1417320"/>
          </a:xfrm>
          <a:prstGeom prst="roundRect">
            <a:avLst>
              <a:gd name="adj" fmla="val 3871"/>
            </a:avLst>
          </a:prstGeom>
          <a:solidFill>
            <a:srgbClr val="6E1620"/>
          </a:solidFill>
          <a:ln/>
        </p:spPr>
      </p:sp>
      <p:sp>
        <p:nvSpPr>
          <p:cNvPr id="15" name="Text 12"/>
          <p:cNvSpPr/>
          <p:nvPr/>
        </p:nvSpPr>
        <p:spPr>
          <a:xfrm>
            <a:off x="6172200" y="3886200"/>
            <a:ext cx="4663440" cy="274320"/>
          </a:xfrm>
          <a:prstGeom prst="rect">
            <a:avLst/>
          </a:prstGeom>
          <a:noFill/>
          <a:ln/>
        </p:spPr>
        <p:txBody>
          <a:bodyPr wrap="square" lIns="0" tIns="0" rIns="0" bIns="0" rtlCol="0" anchor="ctr"/>
          <a:lstStyle/>
          <a:p>
            <a:pPr marL="0" indent="0">
              <a:buNone/>
            </a:pPr>
            <a:r>
              <a:rPr lang="en-US" sz="1050" b="1" kern="0" spc="150" dirty="0">
                <a:solidFill>
                  <a:srgbClr val="B23A4E"/>
                </a:solidFill>
                <a:latin typeface="Calibri" pitchFamily="34" charset="0"/>
                <a:ea typeface="Calibri" pitchFamily="34" charset="-122"/>
                <a:cs typeface="Calibri" pitchFamily="34" charset="-120"/>
              </a:rPr>
              <a:t>FRONTEND &amp; INTERFACE ARCHITECTURE</a:t>
            </a:r>
            <a:endParaRPr lang="en-US" sz="1050" dirty="0"/>
          </a:p>
        </p:txBody>
      </p:sp>
      <p:sp>
        <p:nvSpPr>
          <p:cNvPr id="16" name="Text 13"/>
          <p:cNvSpPr/>
          <p:nvPr/>
        </p:nvSpPr>
        <p:spPr>
          <a:xfrm>
            <a:off x="6172200" y="4178808"/>
            <a:ext cx="4663440" cy="36576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Nino Khorava</a:t>
            </a:r>
            <a:endParaRPr lang="en-US" sz="1600" dirty="0"/>
          </a:p>
        </p:txBody>
      </p:sp>
      <p:sp>
        <p:nvSpPr>
          <p:cNvPr id="17" name="Text 14"/>
          <p:cNvSpPr/>
          <p:nvPr/>
        </p:nvSpPr>
        <p:spPr>
          <a:xfrm>
            <a:off x="6172200" y="4572000"/>
            <a:ext cx="4709160" cy="548640"/>
          </a:xfrm>
          <a:prstGeom prst="rect">
            <a:avLst/>
          </a:prstGeom>
          <a:noFill/>
          <a:ln/>
        </p:spPr>
        <p:txBody>
          <a:bodyPr wrap="square" lIns="0" tIns="0" rIns="0" bIns="0" rtlCol="0" anchor="ctr"/>
          <a:lstStyle/>
          <a:p>
            <a:pPr marL="0" indent="0">
              <a:buNone/>
            </a:pPr>
            <a:r>
              <a:rPr lang="en-US" sz="1050" dirty="0">
                <a:solidFill>
                  <a:srgbClr val="D9C4BE"/>
                </a:solidFill>
                <a:latin typeface="Calibri" pitchFamily="34" charset="0"/>
                <a:ea typeface="Calibri" pitchFamily="34" charset="-122"/>
                <a:cs typeface="Calibri" pitchFamily="34" charset="-120"/>
              </a:rPr>
              <a:t>“Gothic Kitchen” design system, responsive layout, usability verification</a:t>
            </a:r>
            <a:endParaRPr lang="en-US" sz="1050" dirty="0"/>
          </a:p>
        </p:txBody>
      </p:sp>
      <p:sp>
        <p:nvSpPr>
          <p:cNvPr id="18" name="Text 15"/>
          <p:cNvSpPr/>
          <p:nvPr/>
        </p:nvSpPr>
        <p:spPr>
          <a:xfrm>
            <a:off x="640080" y="5440680"/>
            <a:ext cx="8229600" cy="365760"/>
          </a:xfrm>
          <a:prstGeom prst="rect">
            <a:avLst/>
          </a:prstGeom>
          <a:noFill/>
          <a:ln/>
        </p:spPr>
        <p:txBody>
          <a:bodyPr wrap="square" lIns="0" tIns="0" rIns="0" bIns="0" rtlCol="0" anchor="ctr"/>
          <a:lstStyle/>
          <a:p>
            <a:pPr marL="0" indent="0">
              <a:buNone/>
            </a:pPr>
            <a:r>
              <a:rPr lang="en-US" sz="1250" i="1" dirty="0">
                <a:solidFill>
                  <a:srgbClr val="C4A9A3"/>
                </a:solidFill>
                <a:latin typeface="Calibri" pitchFamily="34" charset="0"/>
                <a:ea typeface="Calibri" pitchFamily="34" charset="-122"/>
                <a:cs typeface="Calibri" pitchFamily="34" charset="-120"/>
              </a:rPr>
              <a:t>Supervisor: Mariam Chkhaidze  •  Bachelor's Thesis Defense</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EFE3"/>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8E1F2F"/>
                </a:solidFill>
                <a:latin typeface="Calibri" pitchFamily="34" charset="0"/>
                <a:ea typeface="Calibri" pitchFamily="34" charset="-122"/>
                <a:cs typeface="Calibri" pitchFamily="34" charset="-120"/>
              </a:rPr>
              <a:t>INTRODUCTION &amp; PROBLEM STATEMENT</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700" b="1" dirty="0">
                <a:solidFill>
                  <a:srgbClr val="2A0D10"/>
                </a:solidFill>
                <a:latin typeface="Cambria" pitchFamily="34" charset="0"/>
                <a:ea typeface="Cambria" pitchFamily="34" charset="-122"/>
                <a:cs typeface="Cambria" pitchFamily="34" charset="-120"/>
              </a:rPr>
              <a:t>Two engineering problems, one system</a:t>
            </a:r>
            <a:endParaRPr lang="en-US" sz="2700" dirty="0"/>
          </a:p>
        </p:txBody>
      </p:sp>
      <p:sp>
        <p:nvSpPr>
          <p:cNvPr id="4" name="Shape 2"/>
          <p:cNvSpPr/>
          <p:nvPr/>
        </p:nvSpPr>
        <p:spPr>
          <a:xfrm>
            <a:off x="502920" y="1607820"/>
            <a:ext cx="5532120" cy="4434840"/>
          </a:xfrm>
          <a:prstGeom prst="roundRect">
            <a:avLst>
              <a:gd name="adj" fmla="val 1443"/>
            </a:avLst>
          </a:prstGeom>
          <a:solidFill>
            <a:srgbClr val="FFFFFF"/>
          </a:solidFill>
          <a:ln/>
          <a:effectLst>
            <a:outerShdw blurRad="76200" dist="25400" dir="2700000" algn="bl" rotWithShape="0">
              <a:srgbClr val="000000">
                <a:alpha val="8000"/>
              </a:srgbClr>
            </a:outerShdw>
          </a:effectLst>
        </p:spPr>
      </p:sp>
      <p:sp>
        <p:nvSpPr>
          <p:cNvPr id="5" name="Shape 3"/>
          <p:cNvSpPr/>
          <p:nvPr/>
        </p:nvSpPr>
        <p:spPr>
          <a:xfrm>
            <a:off x="777240" y="1828800"/>
            <a:ext cx="475488" cy="475488"/>
          </a:xfrm>
          <a:prstGeom prst="ellipse">
            <a:avLst/>
          </a:prstGeom>
          <a:solidFill>
            <a:srgbClr val="8E1F2F"/>
          </a:solidFill>
          <a:ln/>
        </p:spPr>
      </p:sp>
      <p:pic>
        <p:nvPicPr>
          <p:cNvPr id="6" name="Image 0" descr="images/ic_flask.png"/>
          <p:cNvPicPr>
            <a:picLocks noChangeAspect="1"/>
          </p:cNvPicPr>
          <p:nvPr/>
        </p:nvPicPr>
        <p:blipFill>
          <a:blip r:embed="rId3"/>
          <a:stretch>
            <a:fillRect/>
          </a:stretch>
        </p:blipFill>
        <p:spPr>
          <a:xfrm>
            <a:off x="896112" y="1947672"/>
            <a:ext cx="237744" cy="237744"/>
          </a:xfrm>
          <a:prstGeom prst="rect">
            <a:avLst/>
          </a:prstGeom>
        </p:spPr>
      </p:pic>
      <p:sp>
        <p:nvSpPr>
          <p:cNvPr id="7" name="Text 4"/>
          <p:cNvSpPr/>
          <p:nvPr/>
        </p:nvSpPr>
        <p:spPr>
          <a:xfrm>
            <a:off x="1417320" y="1847088"/>
            <a:ext cx="4480560" cy="502920"/>
          </a:xfrm>
          <a:prstGeom prst="rect">
            <a:avLst/>
          </a:prstGeom>
          <a:noFill/>
          <a:ln/>
        </p:spPr>
        <p:txBody>
          <a:bodyPr wrap="square" lIns="0" tIns="0" rIns="0" bIns="0" rtlCol="0" anchor="ctr"/>
          <a:lstStyle/>
          <a:p>
            <a:pPr marL="0" indent="0">
              <a:buNone/>
            </a:pPr>
            <a:r>
              <a:rPr lang="en-US" sz="1450" b="1" dirty="0">
                <a:solidFill>
                  <a:srgbClr val="2A0D10"/>
                </a:solidFill>
                <a:latin typeface="Calibri" pitchFamily="34" charset="0"/>
                <a:ea typeface="Calibri" pitchFamily="34" charset="-122"/>
                <a:cs typeface="Calibri" pitchFamily="34" charset="-120"/>
              </a:rPr>
              <a:t>Data Scarcity and Static Model Weights</a:t>
            </a:r>
            <a:endParaRPr lang="en-US" sz="1450" dirty="0"/>
          </a:p>
        </p:txBody>
      </p:sp>
      <p:sp>
        <p:nvSpPr>
          <p:cNvPr id="8" name="Text 5"/>
          <p:cNvSpPr/>
          <p:nvPr/>
        </p:nvSpPr>
        <p:spPr>
          <a:xfrm>
            <a:off x="777240" y="2450592"/>
            <a:ext cx="5074920" cy="1600200"/>
          </a:xfrm>
          <a:prstGeom prst="rect">
            <a:avLst/>
          </a:prstGeom>
          <a:noFill/>
          <a:ln/>
        </p:spPr>
        <p:txBody>
          <a:bodyPr wrap="square" lIns="0" tIns="0" rIns="0" bIns="0" rtlCol="0" anchor="ctr"/>
          <a:lstStyle/>
          <a:p>
            <a:pPr marL="0" indent="0">
              <a:buNone/>
            </a:pPr>
            <a:r>
              <a:rPr lang="en-US" sz="1250" dirty="0">
                <a:solidFill>
                  <a:srgbClr val="6B4B47"/>
                </a:solidFill>
                <a:latin typeface="Calibri" pitchFamily="34" charset="0"/>
                <a:ea typeface="Calibri" pitchFamily="34" charset="-122"/>
                <a:cs typeface="Calibri" pitchFamily="34" charset="-120"/>
              </a:rPr>
              <a:t>Web-crawled LLM training corpora are English-dominant [Brown et al.; Dodge et al.]. Georgian, spoken by approximately four million people, is a long-tail language with negligible digitized culinary text.</a:t>
            </a:r>
            <a:endParaRPr lang="en-US" sz="1250" dirty="0"/>
          </a:p>
        </p:txBody>
      </p:sp>
      <p:sp>
        <p:nvSpPr>
          <p:cNvPr id="9" name="Text 6"/>
          <p:cNvSpPr/>
          <p:nvPr/>
        </p:nvSpPr>
        <p:spPr>
          <a:xfrm>
            <a:off x="777240" y="4160520"/>
            <a:ext cx="5074920" cy="1737360"/>
          </a:xfrm>
          <a:prstGeom prst="rect">
            <a:avLst/>
          </a:prstGeom>
          <a:noFill/>
          <a:ln/>
        </p:spPr>
        <p:txBody>
          <a:bodyPr wrap="square" lIns="0" tIns="0" rIns="0" bIns="0" rtlCol="0" anchor="ctr"/>
          <a:lstStyle/>
          <a:p>
            <a:r>
              <a:rPr lang="en-US" sz="1250" dirty="0">
                <a:solidFill>
                  <a:srgbClr val="6B4B47"/>
                </a:solidFill>
                <a:latin typeface="Calibri" pitchFamily="34" charset="0"/>
                <a:ea typeface="Calibri" pitchFamily="34" charset="-122"/>
                <a:cs typeface="Calibri" pitchFamily="34" charset="-120"/>
              </a:rPr>
              <a:t>Because model weights are static post-training, a correction accepted mid-conversation is not retained: the assistant reverted to describing the entity as exclusively boiled in the very next turn.</a:t>
            </a:r>
            <a:endParaRPr lang="en-US" sz="1250" dirty="0"/>
          </a:p>
        </p:txBody>
      </p:sp>
      <p:sp>
        <p:nvSpPr>
          <p:cNvPr id="10" name="Shape 7"/>
          <p:cNvSpPr/>
          <p:nvPr/>
        </p:nvSpPr>
        <p:spPr>
          <a:xfrm>
            <a:off x="6172200" y="1600200"/>
            <a:ext cx="5532120" cy="4434840"/>
          </a:xfrm>
          <a:prstGeom prst="roundRect">
            <a:avLst>
              <a:gd name="adj" fmla="val 1443"/>
            </a:avLst>
          </a:prstGeom>
          <a:solidFill>
            <a:srgbClr val="FFFFFF"/>
          </a:solidFill>
          <a:ln/>
          <a:effectLst>
            <a:outerShdw blurRad="76200" dist="25400" dir="2700000" algn="bl" rotWithShape="0">
              <a:srgbClr val="000000">
                <a:alpha val="8000"/>
              </a:srgbClr>
            </a:outerShdw>
          </a:effectLst>
        </p:spPr>
      </p:sp>
      <p:sp>
        <p:nvSpPr>
          <p:cNvPr id="11" name="Shape 8"/>
          <p:cNvSpPr/>
          <p:nvPr/>
        </p:nvSpPr>
        <p:spPr>
          <a:xfrm>
            <a:off x="6446520" y="1828800"/>
            <a:ext cx="475488" cy="475488"/>
          </a:xfrm>
          <a:prstGeom prst="ellipse">
            <a:avLst/>
          </a:prstGeom>
          <a:solidFill>
            <a:srgbClr val="8E1F2F"/>
          </a:solidFill>
          <a:ln/>
        </p:spPr>
      </p:sp>
      <p:pic>
        <p:nvPicPr>
          <p:cNvPr id="12" name="Image 1" descr="images/ic_code.png"/>
          <p:cNvPicPr>
            <a:picLocks noChangeAspect="1"/>
          </p:cNvPicPr>
          <p:nvPr/>
        </p:nvPicPr>
        <p:blipFill>
          <a:blip r:embed="rId4"/>
          <a:stretch>
            <a:fillRect/>
          </a:stretch>
        </p:blipFill>
        <p:spPr>
          <a:xfrm>
            <a:off x="6565392" y="1947672"/>
            <a:ext cx="237744" cy="237744"/>
          </a:xfrm>
          <a:prstGeom prst="rect">
            <a:avLst/>
          </a:prstGeom>
        </p:spPr>
      </p:pic>
      <p:sp>
        <p:nvSpPr>
          <p:cNvPr id="13" name="Text 9"/>
          <p:cNvSpPr/>
          <p:nvPr/>
        </p:nvSpPr>
        <p:spPr>
          <a:xfrm>
            <a:off x="7086600" y="1847088"/>
            <a:ext cx="4480560" cy="502920"/>
          </a:xfrm>
          <a:prstGeom prst="rect">
            <a:avLst/>
          </a:prstGeom>
          <a:noFill/>
          <a:ln/>
        </p:spPr>
        <p:txBody>
          <a:bodyPr wrap="square" lIns="0" tIns="0" rIns="0" bIns="0" rtlCol="0" anchor="ctr"/>
          <a:lstStyle/>
          <a:p>
            <a:pPr marL="0" indent="0">
              <a:buNone/>
            </a:pPr>
            <a:r>
              <a:rPr lang="en-US" sz="1450" b="1" dirty="0">
                <a:solidFill>
                  <a:srgbClr val="2A0D10"/>
                </a:solidFill>
                <a:latin typeface="Calibri" pitchFamily="34" charset="0"/>
                <a:ea typeface="Calibri" pitchFamily="34" charset="-122"/>
                <a:cs typeface="Calibri" pitchFamily="34" charset="-120"/>
              </a:rPr>
              <a:t>Rigid Interfaces for Unstructured Intent</a:t>
            </a:r>
            <a:endParaRPr lang="en-US" sz="1450" dirty="0"/>
          </a:p>
        </p:txBody>
      </p:sp>
      <p:sp>
        <p:nvSpPr>
          <p:cNvPr id="14" name="Text 10"/>
          <p:cNvSpPr/>
          <p:nvPr/>
        </p:nvSpPr>
        <p:spPr>
          <a:xfrm>
            <a:off x="6446520" y="2450592"/>
            <a:ext cx="5074920" cy="1600200"/>
          </a:xfrm>
          <a:prstGeom prst="rect">
            <a:avLst/>
          </a:prstGeom>
          <a:noFill/>
          <a:ln/>
        </p:spPr>
        <p:txBody>
          <a:bodyPr wrap="square" lIns="0" tIns="0" rIns="0" bIns="0" rtlCol="0" anchor="ctr"/>
          <a:lstStyle/>
          <a:p>
            <a:pPr marL="0" indent="0">
              <a:buNone/>
            </a:pPr>
            <a:r>
              <a:rPr lang="en-US" sz="1250" dirty="0">
                <a:solidFill>
                  <a:srgbClr val="6B4B47"/>
                </a:solidFill>
                <a:latin typeface="Calibri" pitchFamily="34" charset="0"/>
                <a:ea typeface="Calibri" pitchFamily="34" charset="-122"/>
                <a:cs typeface="Calibri" pitchFamily="34" charset="-120"/>
              </a:rPr>
              <a:t>Legacy culinary software assumes exact keyword filters over rigid relational schemas. Real queries are unstructured: arbitrary leftover ingredients, compound dietary constraints, situational time limits.</a:t>
            </a:r>
            <a:endParaRPr lang="en-US" sz="1250" dirty="0"/>
          </a:p>
        </p:txBody>
      </p:sp>
      <p:sp>
        <p:nvSpPr>
          <p:cNvPr id="15" name="Text 11"/>
          <p:cNvSpPr/>
          <p:nvPr/>
        </p:nvSpPr>
        <p:spPr>
          <a:xfrm>
            <a:off x="6446520" y="4160520"/>
            <a:ext cx="5074920" cy="1737360"/>
          </a:xfrm>
          <a:prstGeom prst="rect">
            <a:avLst/>
          </a:prstGeom>
          <a:noFill/>
          <a:ln/>
        </p:spPr>
        <p:txBody>
          <a:bodyPr wrap="square" lIns="0" tIns="0" rIns="0" bIns="0" rtlCol="0" anchor="ctr"/>
          <a:lstStyle/>
          <a:p>
            <a:pPr marL="0" indent="0">
              <a:buNone/>
            </a:pPr>
            <a:r>
              <a:rPr lang="en-US" sz="1250" dirty="0">
                <a:solidFill>
                  <a:srgbClr val="6B4B47"/>
                </a:solidFill>
                <a:latin typeface="Calibri" pitchFamily="34" charset="0"/>
                <a:ea typeface="Calibri" pitchFamily="34" charset="-122"/>
                <a:cs typeface="Calibri" pitchFamily="34" charset="-120"/>
              </a:rPr>
              <a:t>The interface must also remain legible in a low-light kitchen environment and absorb text of unpredictable length and script without layout shift — constraints most recipe UIs do not address.</a:t>
            </a:r>
            <a:endParaRPr lang="en-US" sz="1250" dirty="0"/>
          </a:p>
        </p:txBody>
      </p:sp>
      <p:sp>
        <p:nvSpPr>
          <p:cNvPr id="16" name="Text 12"/>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17" name="Text 1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541016"/>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B23A4E"/>
                </a:solidFill>
                <a:latin typeface="Calibri" pitchFamily="34" charset="0"/>
                <a:ea typeface="Calibri" pitchFamily="34" charset="-122"/>
                <a:cs typeface="Calibri" pitchFamily="34" charset="-120"/>
              </a:rPr>
              <a:t>SYSTEM ARCHITECTURE</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700" b="1" dirty="0">
                <a:solidFill>
                  <a:srgbClr val="FFFFFF"/>
                </a:solidFill>
                <a:latin typeface="Cambria" pitchFamily="34" charset="0"/>
                <a:ea typeface="Cambria" pitchFamily="34" charset="-122"/>
                <a:cs typeface="Cambria" pitchFamily="34" charset="-120"/>
              </a:rPr>
              <a:t>A Model–View–Controller separation of concerns</a:t>
            </a:r>
            <a:endParaRPr lang="en-US" sz="2700" dirty="0"/>
          </a:p>
        </p:txBody>
      </p:sp>
      <p:sp>
        <p:nvSpPr>
          <p:cNvPr id="4" name="Shape 2"/>
          <p:cNvSpPr/>
          <p:nvPr/>
        </p:nvSpPr>
        <p:spPr>
          <a:xfrm>
            <a:off x="594360" y="1691640"/>
            <a:ext cx="1691640" cy="960120"/>
          </a:xfrm>
          <a:prstGeom prst="roundRect">
            <a:avLst>
              <a:gd name="adj" fmla="val 5714"/>
            </a:avLst>
          </a:prstGeom>
          <a:solidFill>
            <a:srgbClr val="6E1620"/>
          </a:solidFill>
          <a:ln w="9525">
            <a:solidFill>
              <a:srgbClr val="B23A4E"/>
            </a:solidFill>
            <a:prstDash val="solid"/>
          </a:ln>
        </p:spPr>
      </p:sp>
      <p:sp>
        <p:nvSpPr>
          <p:cNvPr id="5" name="Text 3"/>
          <p:cNvSpPr/>
          <p:nvPr/>
        </p:nvSpPr>
        <p:spPr>
          <a:xfrm>
            <a:off x="685800"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685800"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Session validated</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(UUID user_id)</a:t>
            </a:r>
            <a:endParaRPr lang="en-US" sz="950" dirty="0"/>
          </a:p>
        </p:txBody>
      </p:sp>
      <p:sp>
        <p:nvSpPr>
          <p:cNvPr id="7" name="Text 5"/>
          <p:cNvSpPr/>
          <p:nvPr/>
        </p:nvSpPr>
        <p:spPr>
          <a:xfrm>
            <a:off x="2267712" y="2007108"/>
            <a:ext cx="246888" cy="329184"/>
          </a:xfrm>
          <a:prstGeom prst="rect">
            <a:avLst/>
          </a:prstGeom>
          <a:noFill/>
          <a:ln/>
        </p:spPr>
        <p:txBody>
          <a:bodyPr wrap="square" lIns="0" tIns="0" rIns="0" bIns="0" rtlCol="0" anchor="ctr"/>
          <a:lstStyle/>
          <a:p>
            <a:pPr marL="0" indent="0" algn="ctr">
              <a:buNone/>
            </a:pPr>
            <a:r>
              <a:rPr lang="en-US" sz="1400" dirty="0">
                <a:solidFill>
                  <a:srgbClr val="B23A4E"/>
                </a:solidFill>
                <a:latin typeface="Arial" pitchFamily="34" charset="0"/>
                <a:ea typeface="Arial" pitchFamily="34" charset="-122"/>
                <a:cs typeface="Arial" pitchFamily="34" charset="-120"/>
              </a:rPr>
              <a:t>→</a:t>
            </a:r>
            <a:endParaRPr lang="en-US" sz="1400" dirty="0"/>
          </a:p>
        </p:txBody>
      </p:sp>
      <p:sp>
        <p:nvSpPr>
          <p:cNvPr id="8" name="Shape 6"/>
          <p:cNvSpPr/>
          <p:nvPr/>
        </p:nvSpPr>
        <p:spPr>
          <a:xfrm>
            <a:off x="2487168" y="1691640"/>
            <a:ext cx="1691640" cy="960120"/>
          </a:xfrm>
          <a:prstGeom prst="roundRect">
            <a:avLst>
              <a:gd name="adj" fmla="val 5714"/>
            </a:avLst>
          </a:prstGeom>
          <a:solidFill>
            <a:srgbClr val="6E1620"/>
          </a:solidFill>
          <a:ln w="9525">
            <a:solidFill>
              <a:srgbClr val="B23A4E"/>
            </a:solidFill>
            <a:prstDash val="solid"/>
          </a:ln>
        </p:spPr>
      </p:sp>
      <p:sp>
        <p:nvSpPr>
          <p:cNvPr id="9" name="Text 7"/>
          <p:cNvSpPr/>
          <p:nvPr/>
        </p:nvSpPr>
        <p:spPr>
          <a:xfrm>
            <a:off x="2578608"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2578608"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detect_message_</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language()</a:t>
            </a:r>
            <a:endParaRPr lang="en-US" sz="950" dirty="0"/>
          </a:p>
        </p:txBody>
      </p:sp>
      <p:sp>
        <p:nvSpPr>
          <p:cNvPr id="11" name="Text 9"/>
          <p:cNvSpPr/>
          <p:nvPr/>
        </p:nvSpPr>
        <p:spPr>
          <a:xfrm>
            <a:off x="4160520" y="2007108"/>
            <a:ext cx="246888" cy="329184"/>
          </a:xfrm>
          <a:prstGeom prst="rect">
            <a:avLst/>
          </a:prstGeom>
          <a:noFill/>
          <a:ln/>
        </p:spPr>
        <p:txBody>
          <a:bodyPr wrap="square" lIns="0" tIns="0" rIns="0" bIns="0" rtlCol="0" anchor="ctr"/>
          <a:lstStyle/>
          <a:p>
            <a:pPr marL="0" indent="0" algn="ctr">
              <a:buNone/>
            </a:pPr>
            <a:r>
              <a:rPr lang="en-US" sz="1400" dirty="0">
                <a:solidFill>
                  <a:srgbClr val="B23A4E"/>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4379976" y="1691640"/>
            <a:ext cx="1691640" cy="960120"/>
          </a:xfrm>
          <a:prstGeom prst="roundRect">
            <a:avLst>
              <a:gd name="adj" fmla="val 5714"/>
            </a:avLst>
          </a:prstGeom>
          <a:solidFill>
            <a:srgbClr val="8E1F2F"/>
          </a:solidFill>
          <a:ln w="9525">
            <a:solidFill>
              <a:srgbClr val="B23A4E"/>
            </a:solidFill>
            <a:prstDash val="solid"/>
          </a:ln>
        </p:spPr>
      </p:sp>
      <p:sp>
        <p:nvSpPr>
          <p:cNvPr id="13" name="Text 11"/>
          <p:cNvSpPr/>
          <p:nvPr/>
        </p:nvSpPr>
        <p:spPr>
          <a:xfrm>
            <a:off x="4471416"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4471416"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right_rcp_save() →</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user_memory.json</a:t>
            </a:r>
            <a:endParaRPr lang="en-US" sz="950" dirty="0"/>
          </a:p>
        </p:txBody>
      </p:sp>
      <p:sp>
        <p:nvSpPr>
          <p:cNvPr id="15" name="Text 13"/>
          <p:cNvSpPr/>
          <p:nvPr/>
        </p:nvSpPr>
        <p:spPr>
          <a:xfrm>
            <a:off x="6053328" y="2007108"/>
            <a:ext cx="246888" cy="329184"/>
          </a:xfrm>
          <a:prstGeom prst="rect">
            <a:avLst/>
          </a:prstGeom>
          <a:noFill/>
          <a:ln/>
        </p:spPr>
        <p:txBody>
          <a:bodyPr wrap="square" lIns="0" tIns="0" rIns="0" bIns="0" rtlCol="0" anchor="ctr"/>
          <a:lstStyle/>
          <a:p>
            <a:pPr marL="0" indent="0" algn="ctr">
              <a:buNone/>
            </a:pPr>
            <a:r>
              <a:rPr lang="en-US" sz="1400" dirty="0">
                <a:solidFill>
                  <a:srgbClr val="B23A4E"/>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6272784" y="1691640"/>
            <a:ext cx="1691640" cy="960120"/>
          </a:xfrm>
          <a:prstGeom prst="roundRect">
            <a:avLst>
              <a:gd name="adj" fmla="val 5714"/>
            </a:avLst>
          </a:prstGeom>
          <a:solidFill>
            <a:srgbClr val="8E1F2F"/>
          </a:solidFill>
          <a:ln w="9525">
            <a:solidFill>
              <a:srgbClr val="B23A4E"/>
            </a:solidFill>
            <a:prstDash val="solid"/>
          </a:ln>
        </p:spPr>
      </p:sp>
      <p:sp>
        <p:nvSpPr>
          <p:cNvPr id="17" name="Text 15"/>
          <p:cNvSpPr/>
          <p:nvPr/>
        </p:nvSpPr>
        <p:spPr>
          <a:xfrm>
            <a:off x="6364224"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6364224"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build_prompt()</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injects corrections</a:t>
            </a:r>
            <a:endParaRPr lang="en-US" sz="950" dirty="0"/>
          </a:p>
        </p:txBody>
      </p:sp>
      <p:sp>
        <p:nvSpPr>
          <p:cNvPr id="19" name="Text 17"/>
          <p:cNvSpPr/>
          <p:nvPr/>
        </p:nvSpPr>
        <p:spPr>
          <a:xfrm>
            <a:off x="7946136" y="2007108"/>
            <a:ext cx="246888" cy="329184"/>
          </a:xfrm>
          <a:prstGeom prst="rect">
            <a:avLst/>
          </a:prstGeom>
          <a:noFill/>
          <a:ln/>
        </p:spPr>
        <p:txBody>
          <a:bodyPr wrap="square" lIns="0" tIns="0" rIns="0" bIns="0" rtlCol="0" anchor="ctr"/>
          <a:lstStyle/>
          <a:p>
            <a:pPr marL="0" indent="0" algn="ctr">
              <a:buNone/>
            </a:pPr>
            <a:r>
              <a:rPr lang="en-US" sz="1400" dirty="0">
                <a:solidFill>
                  <a:srgbClr val="B23A4E"/>
                </a:solidFill>
                <a:latin typeface="Arial" pitchFamily="34" charset="0"/>
                <a:ea typeface="Arial" pitchFamily="34" charset="-122"/>
                <a:cs typeface="Arial" pitchFamily="34" charset="-120"/>
              </a:rPr>
              <a:t>→</a:t>
            </a:r>
            <a:endParaRPr lang="en-US" sz="1400" dirty="0"/>
          </a:p>
        </p:txBody>
      </p:sp>
      <p:sp>
        <p:nvSpPr>
          <p:cNvPr id="20" name="Shape 18"/>
          <p:cNvSpPr/>
          <p:nvPr/>
        </p:nvSpPr>
        <p:spPr>
          <a:xfrm>
            <a:off x="8165592" y="1691640"/>
            <a:ext cx="1691640" cy="960120"/>
          </a:xfrm>
          <a:prstGeom prst="roundRect">
            <a:avLst>
              <a:gd name="adj" fmla="val 5714"/>
            </a:avLst>
          </a:prstGeom>
          <a:solidFill>
            <a:srgbClr val="6E1620"/>
          </a:solidFill>
          <a:ln w="9525">
            <a:solidFill>
              <a:srgbClr val="B23A4E"/>
            </a:solidFill>
            <a:prstDash val="solid"/>
          </a:ln>
        </p:spPr>
      </p:sp>
      <p:sp>
        <p:nvSpPr>
          <p:cNvPr id="21" name="Text 19"/>
          <p:cNvSpPr/>
          <p:nvPr/>
        </p:nvSpPr>
        <p:spPr>
          <a:xfrm>
            <a:off x="8257032"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5</a:t>
            </a:r>
            <a:endParaRPr lang="en-US" sz="1000" dirty="0"/>
          </a:p>
        </p:txBody>
      </p:sp>
      <p:sp>
        <p:nvSpPr>
          <p:cNvPr id="22" name="Text 20"/>
          <p:cNvSpPr/>
          <p:nvPr/>
        </p:nvSpPr>
        <p:spPr>
          <a:xfrm>
            <a:off x="8257032"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POST to Groq API</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(last 12 messages)</a:t>
            </a:r>
            <a:endParaRPr lang="en-US" sz="950" dirty="0"/>
          </a:p>
        </p:txBody>
      </p:sp>
      <p:sp>
        <p:nvSpPr>
          <p:cNvPr id="23" name="Text 21"/>
          <p:cNvSpPr/>
          <p:nvPr/>
        </p:nvSpPr>
        <p:spPr>
          <a:xfrm>
            <a:off x="9838944" y="2007108"/>
            <a:ext cx="246888" cy="329184"/>
          </a:xfrm>
          <a:prstGeom prst="rect">
            <a:avLst/>
          </a:prstGeom>
          <a:noFill/>
          <a:ln/>
        </p:spPr>
        <p:txBody>
          <a:bodyPr wrap="square" lIns="0" tIns="0" rIns="0" bIns="0" rtlCol="0" anchor="ctr"/>
          <a:lstStyle/>
          <a:p>
            <a:pPr marL="0" indent="0" algn="ctr">
              <a:buNone/>
            </a:pPr>
            <a:r>
              <a:rPr lang="en-US" sz="1400" dirty="0">
                <a:solidFill>
                  <a:srgbClr val="B23A4E"/>
                </a:solidFill>
                <a:latin typeface="Arial" pitchFamily="34" charset="0"/>
                <a:ea typeface="Arial" pitchFamily="34" charset="-122"/>
                <a:cs typeface="Arial" pitchFamily="34" charset="-120"/>
              </a:rPr>
              <a:t>→</a:t>
            </a:r>
            <a:endParaRPr lang="en-US" sz="1400" dirty="0"/>
          </a:p>
        </p:txBody>
      </p:sp>
      <p:sp>
        <p:nvSpPr>
          <p:cNvPr id="24" name="Shape 22"/>
          <p:cNvSpPr/>
          <p:nvPr/>
        </p:nvSpPr>
        <p:spPr>
          <a:xfrm>
            <a:off x="10058400" y="1691640"/>
            <a:ext cx="1691640" cy="960120"/>
          </a:xfrm>
          <a:prstGeom prst="roundRect">
            <a:avLst>
              <a:gd name="adj" fmla="val 5714"/>
            </a:avLst>
          </a:prstGeom>
          <a:solidFill>
            <a:srgbClr val="6E1620"/>
          </a:solidFill>
          <a:ln w="9525">
            <a:solidFill>
              <a:srgbClr val="B23A4E"/>
            </a:solidFill>
            <a:prstDash val="solid"/>
          </a:ln>
        </p:spPr>
      </p:sp>
      <p:sp>
        <p:nvSpPr>
          <p:cNvPr id="25" name="Text 23"/>
          <p:cNvSpPr/>
          <p:nvPr/>
        </p:nvSpPr>
        <p:spPr>
          <a:xfrm>
            <a:off x="10149840" y="1737360"/>
            <a:ext cx="457200" cy="228600"/>
          </a:xfrm>
          <a:prstGeom prst="rect">
            <a:avLst/>
          </a:prstGeom>
          <a:noFill/>
          <a:ln/>
        </p:spPr>
        <p:txBody>
          <a:bodyPr wrap="square" lIns="0" tIns="0" rIns="0" bIns="0" rtlCol="0" anchor="ctr"/>
          <a:lstStyle/>
          <a:p>
            <a:pPr marL="0" indent="0">
              <a:buNone/>
            </a:pPr>
            <a:r>
              <a:rPr lang="en-US" sz="1000" b="1" dirty="0">
                <a:solidFill>
                  <a:srgbClr val="B23A4E"/>
                </a:solidFill>
                <a:latin typeface="Calibri" pitchFamily="34" charset="0"/>
                <a:ea typeface="Calibri" pitchFamily="34" charset="-122"/>
                <a:cs typeface="Calibri" pitchFamily="34" charset="-120"/>
              </a:rPr>
              <a:t>6</a:t>
            </a:r>
            <a:endParaRPr lang="en-US" sz="1000" dirty="0"/>
          </a:p>
        </p:txBody>
      </p:sp>
      <p:sp>
        <p:nvSpPr>
          <p:cNvPr id="26" name="Text 24"/>
          <p:cNvSpPr/>
          <p:nvPr/>
        </p:nvSpPr>
        <p:spPr>
          <a:xfrm>
            <a:off x="10149840" y="1947672"/>
            <a:ext cx="1508760" cy="640080"/>
          </a:xfrm>
          <a:prstGeom prst="rect">
            <a:avLst/>
          </a:prstGeom>
          <a:noFill/>
          <a:ln/>
        </p:spPr>
        <p:txBody>
          <a:bodyPr wrap="square" lIns="0" tIns="0" rIns="0" bIns="0" rtlCol="0" anchor="ctr"/>
          <a:lstStyle/>
          <a:p>
            <a:pPr marL="0" indent="0">
              <a:buNone/>
            </a:pPr>
            <a:r>
              <a:rPr lang="en-US" sz="950" dirty="0">
                <a:solidFill>
                  <a:srgbClr val="FFFFFF"/>
                </a:solidFill>
                <a:latin typeface="Calibri" pitchFamily="34" charset="0"/>
                <a:ea typeface="Calibri" pitchFamily="34" charset="-122"/>
                <a:cs typeface="Calibri" pitchFamily="34" charset="-120"/>
              </a:rPr>
              <a:t>Formatted response</a:t>
            </a:r>
            <a:endParaRPr lang="en-US" sz="950" dirty="0"/>
          </a:p>
          <a:p>
            <a:pPr marL="0" indent="0">
              <a:buNone/>
            </a:pPr>
            <a:r>
              <a:rPr lang="en-US" sz="950" dirty="0">
                <a:solidFill>
                  <a:srgbClr val="FFFFFF"/>
                </a:solidFill>
                <a:latin typeface="Calibri" pitchFamily="34" charset="0"/>
                <a:ea typeface="Calibri" pitchFamily="34" charset="-122"/>
                <a:cs typeface="Calibri" pitchFamily="34" charset="-120"/>
              </a:rPr>
              <a:t>returned to client</a:t>
            </a:r>
            <a:endParaRPr lang="en-US" sz="950" dirty="0"/>
          </a:p>
        </p:txBody>
      </p:sp>
      <p:sp>
        <p:nvSpPr>
          <p:cNvPr id="27" name="Text 25"/>
          <p:cNvSpPr/>
          <p:nvPr/>
        </p:nvSpPr>
        <p:spPr>
          <a:xfrm>
            <a:off x="594360" y="2761488"/>
            <a:ext cx="9144000" cy="274320"/>
          </a:xfrm>
          <a:prstGeom prst="rect">
            <a:avLst/>
          </a:prstGeom>
          <a:noFill/>
          <a:ln/>
        </p:spPr>
        <p:txBody>
          <a:bodyPr wrap="square" lIns="0" tIns="0" rIns="0" bIns="0" rtlCol="0" anchor="ctr"/>
          <a:lstStyle/>
          <a:p>
            <a:pPr marL="0" indent="0">
              <a:buNone/>
            </a:pPr>
            <a:r>
              <a:rPr lang="en-US" sz="1050" i="1" dirty="0">
                <a:solidFill>
                  <a:srgbClr val="C4A9A3"/>
                </a:solidFill>
                <a:latin typeface="Calibri" pitchFamily="34" charset="0"/>
                <a:ea typeface="Calibri" pitchFamily="34" charset="-122"/>
                <a:cs typeface="Calibri" pitchFamily="34" charset="-120"/>
              </a:rPr>
              <a:t>Figure: Request flow for POST /chat within the Flask backend (app.py)</a:t>
            </a:r>
            <a:endParaRPr lang="en-US" sz="1050" dirty="0"/>
          </a:p>
        </p:txBody>
      </p:sp>
      <p:sp>
        <p:nvSpPr>
          <p:cNvPr id="28" name="Shape 26"/>
          <p:cNvSpPr/>
          <p:nvPr/>
        </p:nvSpPr>
        <p:spPr>
          <a:xfrm>
            <a:off x="548640" y="3977640"/>
            <a:ext cx="3520440" cy="2331720"/>
          </a:xfrm>
          <a:prstGeom prst="roundRect">
            <a:avLst>
              <a:gd name="adj" fmla="val 2745"/>
            </a:avLst>
          </a:prstGeom>
          <a:solidFill>
            <a:srgbClr val="6E1620"/>
          </a:solidFill>
          <a:ln/>
        </p:spPr>
      </p:sp>
      <p:sp>
        <p:nvSpPr>
          <p:cNvPr id="29" name="Text 27"/>
          <p:cNvSpPr/>
          <p:nvPr/>
        </p:nvSpPr>
        <p:spPr>
          <a:xfrm>
            <a:off x="777240" y="4160520"/>
            <a:ext cx="3063240" cy="365760"/>
          </a:xfrm>
          <a:prstGeom prst="rect">
            <a:avLst/>
          </a:prstGeom>
          <a:noFill/>
          <a:ln/>
        </p:spPr>
        <p:txBody>
          <a:bodyPr wrap="square" lIns="0" tIns="0" rIns="0" bIns="0" rtlCol="0" anchor="ctr"/>
          <a:lstStyle/>
          <a:p>
            <a:pPr marL="0" indent="0">
              <a:buNone/>
            </a:pPr>
            <a:r>
              <a:rPr lang="en-US" sz="1500" b="1" kern="0" spc="150" dirty="0">
                <a:solidFill>
                  <a:srgbClr val="B23A4E"/>
                </a:solidFill>
                <a:latin typeface="Calibri" pitchFamily="34" charset="0"/>
                <a:ea typeface="Calibri" pitchFamily="34" charset="-122"/>
                <a:cs typeface="Calibri" pitchFamily="34" charset="-120"/>
              </a:rPr>
              <a:t>MODEL</a:t>
            </a:r>
            <a:endParaRPr lang="en-US" sz="1500" dirty="0"/>
          </a:p>
        </p:txBody>
      </p:sp>
      <p:sp>
        <p:nvSpPr>
          <p:cNvPr id="30" name="Text 28"/>
          <p:cNvSpPr/>
          <p:nvPr/>
        </p:nvSpPr>
        <p:spPr>
          <a:xfrm>
            <a:off x="777240" y="4544568"/>
            <a:ext cx="3063240" cy="320040"/>
          </a:xfrm>
          <a:prstGeom prst="rect">
            <a:avLst/>
          </a:prstGeom>
          <a:noFill/>
          <a:ln/>
        </p:spPr>
        <p:txBody>
          <a:bodyPr wrap="square" lIns="0" tIns="0" rIns="0" bIns="0" rtlCol="0" anchor="ctr"/>
          <a:lstStyle/>
          <a:p>
            <a:pPr marL="0" indent="0">
              <a:buNone/>
            </a:pPr>
            <a:r>
              <a:rPr lang="en-US" sz="1200" i="1" dirty="0">
                <a:solidFill>
                  <a:srgbClr val="E9D4CE"/>
                </a:solidFill>
                <a:latin typeface="Calibri" pitchFamily="34" charset="0"/>
                <a:ea typeface="Calibri" pitchFamily="34" charset="-122"/>
                <a:cs typeface="Calibri" pitchFamily="34" charset="-120"/>
              </a:rPr>
              <a:t>Tamta Termakozashvili</a:t>
            </a:r>
            <a:endParaRPr lang="en-US" sz="1200" dirty="0"/>
          </a:p>
        </p:txBody>
      </p:sp>
      <p:sp>
        <p:nvSpPr>
          <p:cNvPr id="31" name="Text 29"/>
          <p:cNvSpPr/>
          <p:nvPr/>
        </p:nvSpPr>
        <p:spPr>
          <a:xfrm>
            <a:off x="777240" y="4937760"/>
            <a:ext cx="3063240" cy="1280160"/>
          </a:xfrm>
          <a:prstGeom prst="rect">
            <a:avLst/>
          </a:prstGeom>
          <a:noFill/>
          <a:ln/>
        </p:spPr>
        <p:txBody>
          <a:bodyPr wrap="square" lIns="0" tIns="0" rIns="0" bIns="0" rtlCol="0" anchor="ctr"/>
          <a:lstStyle/>
          <a:p>
            <a:pPr marL="0" indent="0">
              <a:buNone/>
            </a:pPr>
            <a:r>
              <a:rPr lang="en-US" sz="1150" dirty="0">
                <a:solidFill>
                  <a:srgbClr val="D9C4BE"/>
                </a:solidFill>
                <a:latin typeface="Calibri" pitchFamily="34" charset="0"/>
                <a:ea typeface="Calibri" pitchFamily="34" charset="-122"/>
                <a:cs typeface="Calibri" pitchFamily="34" charset="-120"/>
              </a:rPr>
              <a:t>JSON-based persistence layer: chat history, favorites, and corrected-recipe records, isolated per user_id.</a:t>
            </a:r>
            <a:endParaRPr lang="en-US" sz="1150" dirty="0"/>
          </a:p>
        </p:txBody>
      </p:sp>
      <p:sp>
        <p:nvSpPr>
          <p:cNvPr id="32" name="Shape 30"/>
          <p:cNvSpPr/>
          <p:nvPr/>
        </p:nvSpPr>
        <p:spPr>
          <a:xfrm>
            <a:off x="4361688" y="3977640"/>
            <a:ext cx="3520440" cy="2331720"/>
          </a:xfrm>
          <a:prstGeom prst="roundRect">
            <a:avLst>
              <a:gd name="adj" fmla="val 2745"/>
            </a:avLst>
          </a:prstGeom>
          <a:solidFill>
            <a:srgbClr val="6E1620"/>
          </a:solidFill>
          <a:ln/>
        </p:spPr>
      </p:sp>
      <p:sp>
        <p:nvSpPr>
          <p:cNvPr id="33" name="Text 31"/>
          <p:cNvSpPr/>
          <p:nvPr/>
        </p:nvSpPr>
        <p:spPr>
          <a:xfrm>
            <a:off x="4590288" y="4160520"/>
            <a:ext cx="3063240" cy="365760"/>
          </a:xfrm>
          <a:prstGeom prst="rect">
            <a:avLst/>
          </a:prstGeom>
          <a:noFill/>
          <a:ln/>
        </p:spPr>
        <p:txBody>
          <a:bodyPr wrap="square" lIns="0" tIns="0" rIns="0" bIns="0" rtlCol="0" anchor="ctr"/>
          <a:lstStyle/>
          <a:p>
            <a:pPr marL="0" indent="0">
              <a:buNone/>
            </a:pPr>
            <a:r>
              <a:rPr lang="en-US" sz="1500" b="1" kern="0" spc="150" dirty="0">
                <a:solidFill>
                  <a:srgbClr val="B23A4E"/>
                </a:solidFill>
                <a:latin typeface="Calibri" pitchFamily="34" charset="0"/>
                <a:ea typeface="Calibri" pitchFamily="34" charset="-122"/>
                <a:cs typeface="Calibri" pitchFamily="34" charset="-120"/>
              </a:rPr>
              <a:t>CONTROLLER</a:t>
            </a:r>
            <a:endParaRPr lang="en-US" sz="1500" dirty="0"/>
          </a:p>
        </p:txBody>
      </p:sp>
      <p:sp>
        <p:nvSpPr>
          <p:cNvPr id="34" name="Text 32"/>
          <p:cNvSpPr/>
          <p:nvPr/>
        </p:nvSpPr>
        <p:spPr>
          <a:xfrm>
            <a:off x="4590288" y="4544568"/>
            <a:ext cx="3063240" cy="320040"/>
          </a:xfrm>
          <a:prstGeom prst="rect">
            <a:avLst/>
          </a:prstGeom>
          <a:noFill/>
          <a:ln/>
        </p:spPr>
        <p:txBody>
          <a:bodyPr wrap="square" lIns="0" tIns="0" rIns="0" bIns="0" rtlCol="0" anchor="ctr"/>
          <a:lstStyle/>
          <a:p>
            <a:pPr marL="0" indent="0">
              <a:buNone/>
            </a:pPr>
            <a:r>
              <a:rPr lang="en-US" sz="1200" i="1" dirty="0">
                <a:solidFill>
                  <a:srgbClr val="E9D4CE"/>
                </a:solidFill>
                <a:latin typeface="Calibri" pitchFamily="34" charset="0"/>
                <a:ea typeface="Calibri" pitchFamily="34" charset="-122"/>
                <a:cs typeface="Calibri" pitchFamily="34" charset="-120"/>
              </a:rPr>
              <a:t>Shared implementation</a:t>
            </a:r>
            <a:endParaRPr lang="en-US" sz="1200" dirty="0"/>
          </a:p>
        </p:txBody>
      </p:sp>
      <p:sp>
        <p:nvSpPr>
          <p:cNvPr id="35" name="Text 33"/>
          <p:cNvSpPr/>
          <p:nvPr/>
        </p:nvSpPr>
        <p:spPr>
          <a:xfrm>
            <a:off x="4590288" y="4937760"/>
            <a:ext cx="3063240" cy="1280160"/>
          </a:xfrm>
          <a:prstGeom prst="rect">
            <a:avLst/>
          </a:prstGeom>
          <a:noFill/>
          <a:ln/>
        </p:spPr>
        <p:txBody>
          <a:bodyPr wrap="square" lIns="0" tIns="0" rIns="0" bIns="0" rtlCol="0" anchor="ctr"/>
          <a:lstStyle/>
          <a:p>
            <a:pPr marL="0" indent="0">
              <a:buNone/>
            </a:pPr>
            <a:r>
              <a:rPr lang="en-US" sz="1150" dirty="0">
                <a:solidFill>
                  <a:srgbClr val="D9C4BE"/>
                </a:solidFill>
                <a:latin typeface="Calibri" pitchFamily="34" charset="0"/>
                <a:ea typeface="Calibri" pitchFamily="34" charset="-122"/>
                <a:cs typeface="Calibri" pitchFamily="34" charset="-120"/>
              </a:rPr>
              <a:t>A minimal Flask application routing form submissions to templates and to the Groq inference API.</a:t>
            </a:r>
            <a:endParaRPr lang="en-US" sz="1150" dirty="0"/>
          </a:p>
        </p:txBody>
      </p:sp>
      <p:sp>
        <p:nvSpPr>
          <p:cNvPr id="36" name="Shape 34"/>
          <p:cNvSpPr/>
          <p:nvPr/>
        </p:nvSpPr>
        <p:spPr>
          <a:xfrm>
            <a:off x="8174736" y="3977640"/>
            <a:ext cx="3520440" cy="2331720"/>
          </a:xfrm>
          <a:prstGeom prst="roundRect">
            <a:avLst>
              <a:gd name="adj" fmla="val 2745"/>
            </a:avLst>
          </a:prstGeom>
          <a:solidFill>
            <a:srgbClr val="6E1620"/>
          </a:solidFill>
          <a:ln/>
        </p:spPr>
      </p:sp>
      <p:sp>
        <p:nvSpPr>
          <p:cNvPr id="37" name="Text 35"/>
          <p:cNvSpPr/>
          <p:nvPr/>
        </p:nvSpPr>
        <p:spPr>
          <a:xfrm>
            <a:off x="8403336" y="4160520"/>
            <a:ext cx="3063240" cy="365760"/>
          </a:xfrm>
          <a:prstGeom prst="rect">
            <a:avLst/>
          </a:prstGeom>
          <a:noFill/>
          <a:ln/>
        </p:spPr>
        <p:txBody>
          <a:bodyPr wrap="square" lIns="0" tIns="0" rIns="0" bIns="0" rtlCol="0" anchor="ctr"/>
          <a:lstStyle/>
          <a:p>
            <a:pPr marL="0" indent="0">
              <a:buNone/>
            </a:pPr>
            <a:r>
              <a:rPr lang="en-US" sz="1500" b="1" kern="0" spc="150" dirty="0">
                <a:solidFill>
                  <a:srgbClr val="B23A4E"/>
                </a:solidFill>
                <a:latin typeface="Calibri" pitchFamily="34" charset="0"/>
                <a:ea typeface="Calibri" pitchFamily="34" charset="-122"/>
                <a:cs typeface="Calibri" pitchFamily="34" charset="-120"/>
              </a:rPr>
              <a:t>VIEW</a:t>
            </a:r>
            <a:endParaRPr lang="en-US" sz="1500" dirty="0"/>
          </a:p>
        </p:txBody>
      </p:sp>
      <p:sp>
        <p:nvSpPr>
          <p:cNvPr id="38" name="Text 36"/>
          <p:cNvSpPr/>
          <p:nvPr/>
        </p:nvSpPr>
        <p:spPr>
          <a:xfrm>
            <a:off x="8403336" y="4544568"/>
            <a:ext cx="3063240" cy="320040"/>
          </a:xfrm>
          <a:prstGeom prst="rect">
            <a:avLst/>
          </a:prstGeom>
          <a:noFill/>
          <a:ln/>
        </p:spPr>
        <p:txBody>
          <a:bodyPr wrap="square" lIns="0" tIns="0" rIns="0" bIns="0" rtlCol="0" anchor="ctr"/>
          <a:lstStyle/>
          <a:p>
            <a:pPr marL="0" indent="0">
              <a:buNone/>
            </a:pPr>
            <a:r>
              <a:rPr lang="en-US" sz="1200" i="1" dirty="0">
                <a:solidFill>
                  <a:srgbClr val="E9D4CE"/>
                </a:solidFill>
                <a:latin typeface="Calibri" pitchFamily="34" charset="0"/>
                <a:ea typeface="Calibri" pitchFamily="34" charset="-122"/>
                <a:cs typeface="Calibri" pitchFamily="34" charset="-120"/>
              </a:rPr>
              <a:t>Nino Khorava</a:t>
            </a:r>
            <a:endParaRPr lang="en-US" sz="1200" dirty="0"/>
          </a:p>
        </p:txBody>
      </p:sp>
      <p:sp>
        <p:nvSpPr>
          <p:cNvPr id="39" name="Text 37"/>
          <p:cNvSpPr/>
          <p:nvPr/>
        </p:nvSpPr>
        <p:spPr>
          <a:xfrm>
            <a:off x="8403336" y="4937760"/>
            <a:ext cx="3063240" cy="1280160"/>
          </a:xfrm>
          <a:prstGeom prst="rect">
            <a:avLst/>
          </a:prstGeom>
          <a:noFill/>
          <a:ln/>
        </p:spPr>
        <p:txBody>
          <a:bodyPr wrap="square" lIns="0" tIns="0" rIns="0" bIns="0" rtlCol="0" anchor="ctr"/>
          <a:lstStyle/>
          <a:p>
            <a:pPr marL="0" indent="0">
              <a:buNone/>
            </a:pPr>
            <a:r>
              <a:rPr lang="en-US" sz="1150" dirty="0">
                <a:solidFill>
                  <a:srgbClr val="D9C4BE"/>
                </a:solidFill>
                <a:latin typeface="Calibri" pitchFamily="34" charset="0"/>
                <a:ea typeface="Calibri" pitchFamily="34" charset="-122"/>
                <a:cs typeface="Calibri" pitchFamily="34" charset="-120"/>
              </a:rPr>
              <a:t>Jinja2 templates and the “Gothic Kitchen” CSS design system; contains no business logic.</a:t>
            </a:r>
            <a:endParaRPr lang="en-US" sz="1150" dirty="0"/>
          </a:p>
        </p:txBody>
      </p:sp>
      <p:sp>
        <p:nvSpPr>
          <p:cNvPr id="40" name="Text 38"/>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41" name="Text 39"/>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EFE3"/>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8E1F2F"/>
                </a:solidFill>
                <a:latin typeface="Calibri" pitchFamily="34" charset="0"/>
                <a:ea typeface="Calibri" pitchFamily="34" charset="-122"/>
                <a:cs typeface="Calibri" pitchFamily="34" charset="-120"/>
              </a:rPr>
              <a:t>BACKEND IMPLEMENTATION — TAMTA TERMAKOZASHVILI</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700" b="1" dirty="0">
                <a:solidFill>
                  <a:srgbClr val="2A0D10"/>
                </a:solidFill>
                <a:latin typeface="Cambria" pitchFamily="34" charset="0"/>
                <a:ea typeface="Cambria" pitchFamily="34" charset="-122"/>
                <a:cs typeface="Cambria" pitchFamily="34" charset="-120"/>
              </a:rPr>
              <a:t>Adaptive memory and linguistic stability</a:t>
            </a:r>
            <a:endParaRPr lang="en-US" sz="2700" dirty="0"/>
          </a:p>
        </p:txBody>
      </p:sp>
      <p:sp>
        <p:nvSpPr>
          <p:cNvPr id="4" name="Shape 2"/>
          <p:cNvSpPr/>
          <p:nvPr/>
        </p:nvSpPr>
        <p:spPr>
          <a:xfrm>
            <a:off x="502920" y="1691640"/>
            <a:ext cx="3520440" cy="3246120"/>
          </a:xfrm>
          <a:prstGeom prst="roundRect">
            <a:avLst>
              <a:gd name="adj" fmla="val 1972"/>
            </a:avLst>
          </a:prstGeom>
          <a:solidFill>
            <a:srgbClr val="FFFFFF"/>
          </a:solidFill>
          <a:ln/>
          <a:effectLst>
            <a:outerShdw blurRad="76200" dist="25400" dir="2700000" algn="bl" rotWithShape="0">
              <a:srgbClr val="000000">
                <a:alpha val="8000"/>
              </a:srgbClr>
            </a:outerShdw>
          </a:effectLst>
        </p:spPr>
      </p:sp>
      <p:sp>
        <p:nvSpPr>
          <p:cNvPr id="5" name="Shape 3"/>
          <p:cNvSpPr/>
          <p:nvPr/>
        </p:nvSpPr>
        <p:spPr>
          <a:xfrm>
            <a:off x="777240" y="1965960"/>
            <a:ext cx="530352" cy="530352"/>
          </a:xfrm>
          <a:prstGeom prst="ellipse">
            <a:avLst/>
          </a:prstGeom>
          <a:solidFill>
            <a:srgbClr val="8E1F2F"/>
          </a:solidFill>
          <a:ln/>
        </p:spPr>
      </p:sp>
      <p:pic>
        <p:nvPicPr>
          <p:cNvPr id="6" name="Image 0" descr="images/ic_memory.png"/>
          <p:cNvPicPr>
            <a:picLocks noChangeAspect="1"/>
          </p:cNvPicPr>
          <p:nvPr/>
        </p:nvPicPr>
        <p:blipFill>
          <a:blip r:embed="rId3"/>
          <a:stretch>
            <a:fillRect/>
          </a:stretch>
        </p:blipFill>
        <p:spPr>
          <a:xfrm>
            <a:off x="905256" y="2093976"/>
            <a:ext cx="274320" cy="274320"/>
          </a:xfrm>
          <a:prstGeom prst="rect">
            <a:avLst/>
          </a:prstGeom>
        </p:spPr>
      </p:pic>
      <p:sp>
        <p:nvSpPr>
          <p:cNvPr id="7" name="Text 4"/>
          <p:cNvSpPr/>
          <p:nvPr/>
        </p:nvSpPr>
        <p:spPr>
          <a:xfrm>
            <a:off x="777240" y="2651760"/>
            <a:ext cx="2971800" cy="685800"/>
          </a:xfrm>
          <a:prstGeom prst="rect">
            <a:avLst/>
          </a:prstGeom>
          <a:noFill/>
          <a:ln/>
        </p:spPr>
        <p:txBody>
          <a:bodyPr wrap="square" lIns="0" tIns="0" rIns="0" bIns="0" rtlCol="0" anchor="ctr"/>
          <a:lstStyle/>
          <a:p>
            <a:pPr marL="0" indent="0">
              <a:buNone/>
            </a:pPr>
            <a:r>
              <a:rPr lang="en-US" sz="1350" b="1" dirty="0">
                <a:solidFill>
                  <a:srgbClr val="2A0D10"/>
                </a:solidFill>
                <a:latin typeface="Calibri" pitchFamily="34" charset="0"/>
                <a:ea typeface="Calibri" pitchFamily="34" charset="-122"/>
                <a:cs typeface="Calibri" pitchFamily="34" charset="-120"/>
              </a:rPr>
              <a:t>Recipe Correction Memory Engine</a:t>
            </a:r>
            <a:endParaRPr lang="en-US" sz="1350" dirty="0"/>
          </a:p>
        </p:txBody>
      </p:sp>
      <p:sp>
        <p:nvSpPr>
          <p:cNvPr id="8" name="Text 5"/>
          <p:cNvSpPr/>
          <p:nvPr/>
        </p:nvSpPr>
        <p:spPr>
          <a:xfrm>
            <a:off x="777240" y="3319272"/>
            <a:ext cx="2971800" cy="1554480"/>
          </a:xfrm>
          <a:prstGeom prst="rect">
            <a:avLst/>
          </a:prstGeom>
          <a:noFill/>
          <a:ln/>
        </p:spPr>
        <p:txBody>
          <a:bodyPr wrap="square" lIns="0" tIns="0" rIns="0" bIns="0" rtlCol="0" anchor="ctr"/>
          <a:lstStyle/>
          <a:p>
            <a:pPr marL="0" indent="0">
              <a:buNone/>
            </a:pPr>
            <a:r>
              <a:rPr lang="en-US" sz="1100" dirty="0">
                <a:solidFill>
                  <a:srgbClr val="6B4B47"/>
                </a:solidFill>
                <a:latin typeface="Calibri" pitchFamily="34" charset="0"/>
                <a:ea typeface="Calibri" pitchFamily="34" charset="-122"/>
                <a:cs typeface="Calibri" pitchFamily="34" charset="-120"/>
              </a:rPr>
              <a:t>correcting_stuff() detects correction markers in English and Georgian; right_rcp_save() de-duplicates by subject and persists the correction, which is re-injected into every subsequent prompt.</a:t>
            </a:r>
            <a:endParaRPr lang="en-US" sz="1100" dirty="0"/>
          </a:p>
        </p:txBody>
      </p:sp>
      <p:sp>
        <p:nvSpPr>
          <p:cNvPr id="9" name="Shape 6"/>
          <p:cNvSpPr/>
          <p:nvPr/>
        </p:nvSpPr>
        <p:spPr>
          <a:xfrm>
            <a:off x="4343400" y="1691640"/>
            <a:ext cx="3520440" cy="3246120"/>
          </a:xfrm>
          <a:prstGeom prst="roundRect">
            <a:avLst>
              <a:gd name="adj" fmla="val 1972"/>
            </a:avLst>
          </a:prstGeom>
          <a:solidFill>
            <a:srgbClr val="FFFFFF"/>
          </a:solidFill>
          <a:ln/>
          <a:effectLst>
            <a:outerShdw blurRad="76200" dist="25400" dir="2700000" algn="bl" rotWithShape="0">
              <a:srgbClr val="000000">
                <a:alpha val="8000"/>
              </a:srgbClr>
            </a:outerShdw>
          </a:effectLst>
        </p:spPr>
      </p:sp>
      <p:sp>
        <p:nvSpPr>
          <p:cNvPr id="10" name="Shape 7"/>
          <p:cNvSpPr/>
          <p:nvPr/>
        </p:nvSpPr>
        <p:spPr>
          <a:xfrm>
            <a:off x="4617720" y="1965960"/>
            <a:ext cx="530352" cy="530352"/>
          </a:xfrm>
          <a:prstGeom prst="ellipse">
            <a:avLst/>
          </a:prstGeom>
          <a:solidFill>
            <a:srgbClr val="8E1F2F"/>
          </a:solidFill>
          <a:ln/>
        </p:spPr>
      </p:sp>
      <p:pic>
        <p:nvPicPr>
          <p:cNvPr id="11" name="Image 1" descr="images/ic_language.png"/>
          <p:cNvPicPr>
            <a:picLocks noChangeAspect="1"/>
          </p:cNvPicPr>
          <p:nvPr/>
        </p:nvPicPr>
        <p:blipFill>
          <a:blip r:embed="rId4"/>
          <a:stretch>
            <a:fillRect/>
          </a:stretch>
        </p:blipFill>
        <p:spPr>
          <a:xfrm>
            <a:off x="4745736" y="2093976"/>
            <a:ext cx="274320" cy="274320"/>
          </a:xfrm>
          <a:prstGeom prst="rect">
            <a:avLst/>
          </a:prstGeom>
        </p:spPr>
      </p:pic>
      <p:sp>
        <p:nvSpPr>
          <p:cNvPr id="12" name="Text 8"/>
          <p:cNvSpPr/>
          <p:nvPr/>
        </p:nvSpPr>
        <p:spPr>
          <a:xfrm>
            <a:off x="4617720" y="2651760"/>
            <a:ext cx="2971800" cy="685800"/>
          </a:xfrm>
          <a:prstGeom prst="rect">
            <a:avLst/>
          </a:prstGeom>
          <a:noFill/>
          <a:ln/>
        </p:spPr>
        <p:txBody>
          <a:bodyPr wrap="square" lIns="0" tIns="0" rIns="0" bIns="0" rtlCol="0" anchor="ctr"/>
          <a:lstStyle/>
          <a:p>
            <a:pPr marL="0" indent="0">
              <a:buNone/>
            </a:pPr>
            <a:r>
              <a:rPr lang="en-US" sz="1350" b="1" dirty="0">
                <a:solidFill>
                  <a:srgbClr val="2A0D10"/>
                </a:solidFill>
                <a:latin typeface="Calibri" pitchFamily="34" charset="0"/>
                <a:ea typeface="Calibri" pitchFamily="34" charset="-122"/>
                <a:cs typeface="Calibri" pitchFamily="34" charset="-120"/>
              </a:rPr>
              <a:t>detect_message_language()</a:t>
            </a:r>
            <a:endParaRPr lang="en-US" sz="1350" dirty="0"/>
          </a:p>
        </p:txBody>
      </p:sp>
      <p:sp>
        <p:nvSpPr>
          <p:cNvPr id="13" name="Text 9"/>
          <p:cNvSpPr/>
          <p:nvPr/>
        </p:nvSpPr>
        <p:spPr>
          <a:xfrm>
            <a:off x="4617720" y="3319272"/>
            <a:ext cx="2971800" cy="1554480"/>
          </a:xfrm>
          <a:prstGeom prst="rect">
            <a:avLst/>
          </a:prstGeom>
          <a:noFill/>
          <a:ln/>
        </p:spPr>
        <p:txBody>
          <a:bodyPr wrap="square" lIns="0" tIns="0" rIns="0" bIns="0" rtlCol="0" anchor="ctr"/>
          <a:lstStyle/>
          <a:p>
            <a:pPr marL="0" indent="0">
              <a:buNone/>
            </a:pPr>
            <a:r>
              <a:rPr lang="en-US" sz="1100" dirty="0">
                <a:solidFill>
                  <a:srgbClr val="6B4B47"/>
                </a:solidFill>
                <a:latin typeface="Calibri" pitchFamily="34" charset="0"/>
                <a:ea typeface="Calibri" pitchFamily="34" charset="-122"/>
                <a:cs typeface="Calibri" pitchFamily="34" charset="-120"/>
              </a:rPr>
              <a:t>Two-tier detection: explicit keyword override, then dominant-script analysis over the Georgian Unicode block (U+10A0–U+10FF) versus Latin characters. Overall complexity O(n).</a:t>
            </a:r>
            <a:endParaRPr lang="en-US" sz="1100" dirty="0"/>
          </a:p>
        </p:txBody>
      </p:sp>
      <p:sp>
        <p:nvSpPr>
          <p:cNvPr id="14" name="Shape 10"/>
          <p:cNvSpPr/>
          <p:nvPr/>
        </p:nvSpPr>
        <p:spPr>
          <a:xfrm>
            <a:off x="8183880" y="1691640"/>
            <a:ext cx="3520440" cy="3246120"/>
          </a:xfrm>
          <a:prstGeom prst="roundRect">
            <a:avLst>
              <a:gd name="adj" fmla="val 1972"/>
            </a:avLst>
          </a:prstGeom>
          <a:solidFill>
            <a:srgbClr val="FFFFFF"/>
          </a:solidFill>
          <a:ln/>
          <a:effectLst>
            <a:outerShdw blurRad="76200" dist="25400" dir="2700000" algn="bl" rotWithShape="0">
              <a:srgbClr val="000000">
                <a:alpha val="8000"/>
              </a:srgbClr>
            </a:outerShdw>
          </a:effectLst>
        </p:spPr>
      </p:sp>
      <p:sp>
        <p:nvSpPr>
          <p:cNvPr id="15" name="Shape 11"/>
          <p:cNvSpPr/>
          <p:nvPr/>
        </p:nvSpPr>
        <p:spPr>
          <a:xfrm>
            <a:off x="8458200" y="1965960"/>
            <a:ext cx="530352" cy="530352"/>
          </a:xfrm>
          <a:prstGeom prst="ellipse">
            <a:avLst/>
          </a:prstGeom>
          <a:solidFill>
            <a:srgbClr val="8E1F2F"/>
          </a:solidFill>
          <a:ln/>
        </p:spPr>
      </p:sp>
      <p:pic>
        <p:nvPicPr>
          <p:cNvPr id="16" name="Image 2" descr="images/ic_speed.png"/>
          <p:cNvPicPr>
            <a:picLocks noChangeAspect="1"/>
          </p:cNvPicPr>
          <p:nvPr/>
        </p:nvPicPr>
        <p:blipFill>
          <a:blip r:embed="rId5"/>
          <a:stretch>
            <a:fillRect/>
          </a:stretch>
        </p:blipFill>
        <p:spPr>
          <a:xfrm>
            <a:off x="8586216" y="2093976"/>
            <a:ext cx="274320" cy="274320"/>
          </a:xfrm>
          <a:prstGeom prst="rect">
            <a:avLst/>
          </a:prstGeom>
        </p:spPr>
      </p:pic>
      <p:sp>
        <p:nvSpPr>
          <p:cNvPr id="17" name="Text 12"/>
          <p:cNvSpPr/>
          <p:nvPr/>
        </p:nvSpPr>
        <p:spPr>
          <a:xfrm>
            <a:off x="8458200" y="2651760"/>
            <a:ext cx="2971800" cy="685800"/>
          </a:xfrm>
          <a:prstGeom prst="rect">
            <a:avLst/>
          </a:prstGeom>
          <a:noFill/>
          <a:ln/>
        </p:spPr>
        <p:txBody>
          <a:bodyPr wrap="square" lIns="0" tIns="0" rIns="0" bIns="0" rtlCol="0" anchor="ctr"/>
          <a:lstStyle/>
          <a:p>
            <a:pPr marL="0" indent="0">
              <a:buNone/>
            </a:pPr>
            <a:r>
              <a:rPr lang="en-US" sz="1350" b="1" dirty="0">
                <a:solidFill>
                  <a:srgbClr val="2A0D10"/>
                </a:solidFill>
                <a:latin typeface="Calibri" pitchFamily="34" charset="0"/>
                <a:ea typeface="Calibri" pitchFamily="34" charset="-122"/>
                <a:cs typeface="Calibri" pitchFamily="34" charset="-120"/>
              </a:rPr>
              <a:t>Groq / Llama-3.3-70b-versatile</a:t>
            </a:r>
            <a:endParaRPr lang="en-US" sz="1350" dirty="0"/>
          </a:p>
        </p:txBody>
      </p:sp>
      <p:sp>
        <p:nvSpPr>
          <p:cNvPr id="18" name="Text 13"/>
          <p:cNvSpPr/>
          <p:nvPr/>
        </p:nvSpPr>
        <p:spPr>
          <a:xfrm>
            <a:off x="8458200" y="3319272"/>
            <a:ext cx="2971800" cy="1554480"/>
          </a:xfrm>
          <a:prstGeom prst="rect">
            <a:avLst/>
          </a:prstGeom>
          <a:noFill/>
          <a:ln/>
        </p:spPr>
        <p:txBody>
          <a:bodyPr wrap="square" lIns="0" tIns="0" rIns="0" bIns="0" rtlCol="0" anchor="ctr"/>
          <a:lstStyle/>
          <a:p>
            <a:pPr marL="0" indent="0">
              <a:buNone/>
            </a:pPr>
            <a:r>
              <a:rPr lang="en-US" sz="1100" dirty="0">
                <a:solidFill>
                  <a:srgbClr val="6B4B47"/>
                </a:solidFill>
                <a:latin typeface="Calibri" pitchFamily="34" charset="0"/>
                <a:ea typeface="Calibri" pitchFamily="34" charset="-122"/>
                <a:cs typeface="Calibri" pitchFamily="34" charset="-120"/>
              </a:rPr>
              <a:t>Grouped-Query Attention and a purpose-built Language Processing Unit (LPU) yield deterministic, low-variance token generation relative to general-purpose GPU inference.</a:t>
            </a:r>
            <a:endParaRPr lang="en-US" sz="1100" dirty="0"/>
          </a:p>
        </p:txBody>
      </p:sp>
      <p:sp>
        <p:nvSpPr>
          <p:cNvPr id="19" name="Shape 14"/>
          <p:cNvSpPr/>
          <p:nvPr/>
        </p:nvSpPr>
        <p:spPr>
          <a:xfrm>
            <a:off x="502920" y="5166360"/>
            <a:ext cx="11201400" cy="960120"/>
          </a:xfrm>
          <a:prstGeom prst="roundRect">
            <a:avLst>
              <a:gd name="adj" fmla="val 6667"/>
            </a:avLst>
          </a:prstGeom>
          <a:solidFill>
            <a:srgbClr val="8E1F2F"/>
          </a:solidFill>
          <a:ln/>
        </p:spPr>
      </p:sp>
      <p:sp>
        <p:nvSpPr>
          <p:cNvPr id="20" name="Text 15"/>
          <p:cNvSpPr/>
          <p:nvPr/>
        </p:nvSpPr>
        <p:spPr>
          <a:xfrm>
            <a:off x="777240" y="5166360"/>
            <a:ext cx="10652760" cy="96012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Session retrieval: O(1) hash-table lookup  •  Correction persistence: O(n) file I/O  •  Multi-tenant isolation enforced via UUID-scoped user_id</a:t>
            </a:r>
            <a:endParaRPr lang="en-US" sz="1200" dirty="0"/>
          </a:p>
        </p:txBody>
      </p:sp>
      <p:sp>
        <p:nvSpPr>
          <p:cNvPr id="21" name="Text 16"/>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22" name="Text 1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EFE3"/>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8E1F2F"/>
                </a:solidFill>
                <a:latin typeface="Calibri" pitchFamily="34" charset="0"/>
                <a:ea typeface="Calibri" pitchFamily="34" charset="-122"/>
                <a:cs typeface="Calibri" pitchFamily="34" charset="-120"/>
              </a:rPr>
              <a:t>FRONTEND IMPLEMENTATION — NINO KHORAVA</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500" b="1" dirty="0">
                <a:solidFill>
                  <a:srgbClr val="2A0D10"/>
                </a:solidFill>
                <a:latin typeface="Cambria" pitchFamily="34" charset="0"/>
                <a:ea typeface="Cambria" pitchFamily="34" charset="-122"/>
                <a:cs typeface="Cambria" pitchFamily="34" charset="-120"/>
              </a:rPr>
              <a:t>A design system for a low-light environment</a:t>
            </a:r>
            <a:endParaRPr lang="en-US" sz="2500" dirty="0"/>
          </a:p>
        </p:txBody>
      </p:sp>
      <p:pic>
        <p:nvPicPr>
          <p:cNvPr id="4" name="Image 0" descr="images/frontend_screenshot.png"/>
          <p:cNvPicPr>
            <a:picLocks noChangeAspect="1"/>
          </p:cNvPicPr>
          <p:nvPr/>
        </p:nvPicPr>
        <p:blipFill>
          <a:blip r:embed="rId3"/>
          <a:srcRect/>
          <a:stretch/>
        </p:blipFill>
        <p:spPr>
          <a:xfrm>
            <a:off x="7498080" y="1627632"/>
            <a:ext cx="4160520" cy="3108960"/>
          </a:xfrm>
          <a:prstGeom prst="rect">
            <a:avLst/>
          </a:prstGeom>
        </p:spPr>
      </p:pic>
      <p:sp>
        <p:nvSpPr>
          <p:cNvPr id="5" name="Text 2"/>
          <p:cNvSpPr/>
          <p:nvPr/>
        </p:nvSpPr>
        <p:spPr>
          <a:xfrm>
            <a:off x="7498080" y="4773168"/>
            <a:ext cx="4160520" cy="594360"/>
          </a:xfrm>
          <a:prstGeom prst="rect">
            <a:avLst/>
          </a:prstGeom>
          <a:noFill/>
          <a:ln/>
        </p:spPr>
        <p:txBody>
          <a:bodyPr wrap="square" lIns="0" tIns="0" rIns="0" bIns="0" rtlCol="0" anchor="ctr"/>
          <a:lstStyle/>
          <a:p>
            <a:pPr marL="0" indent="0">
              <a:buNone/>
            </a:pPr>
            <a:r>
              <a:rPr lang="en-US" sz="900" i="1" dirty="0">
                <a:solidFill>
                  <a:srgbClr val="6B4B47"/>
                </a:solidFill>
                <a:latin typeface="Calibri" pitchFamily="34" charset="0"/>
                <a:ea typeface="Calibri" pitchFamily="34" charset="-122"/>
                <a:cs typeface="Calibri" pitchFamily="34" charset="-120"/>
              </a:rPr>
              <a:t>Figure: Client-side interaction layer — auto-growing textarea, Enter-to-send handling, scroll-position restoration.</a:t>
            </a:r>
            <a:endParaRPr lang="en-US" sz="900" dirty="0"/>
          </a:p>
        </p:txBody>
      </p:sp>
      <p:sp>
        <p:nvSpPr>
          <p:cNvPr id="6" name="Text 3"/>
          <p:cNvSpPr/>
          <p:nvPr/>
        </p:nvSpPr>
        <p:spPr>
          <a:xfrm>
            <a:off x="502920" y="1691640"/>
            <a:ext cx="6720840" cy="320040"/>
          </a:xfrm>
          <a:prstGeom prst="rect">
            <a:avLst/>
          </a:prstGeom>
          <a:noFill/>
          <a:ln/>
        </p:spPr>
        <p:txBody>
          <a:bodyPr wrap="square" lIns="0" tIns="0" rIns="0" bIns="0" rtlCol="0" anchor="ctr"/>
          <a:lstStyle/>
          <a:p>
            <a:pPr marL="0" indent="0">
              <a:buNone/>
            </a:pPr>
            <a:r>
              <a:rPr lang="en-US" sz="1300" b="1" dirty="0">
                <a:solidFill>
                  <a:srgbClr val="2A0D10"/>
                </a:solidFill>
                <a:latin typeface="Calibri" pitchFamily="34" charset="0"/>
                <a:ea typeface="Calibri" pitchFamily="34" charset="-122"/>
                <a:cs typeface="Calibri" pitchFamily="34" charset="-120"/>
              </a:rPr>
              <a:t>“Gothic Kitchen” design tokens</a:t>
            </a:r>
            <a:endParaRPr lang="en-US" sz="1300" dirty="0"/>
          </a:p>
        </p:txBody>
      </p:sp>
      <p:sp>
        <p:nvSpPr>
          <p:cNvPr id="7" name="Text 4"/>
          <p:cNvSpPr/>
          <p:nvPr/>
        </p:nvSpPr>
        <p:spPr>
          <a:xfrm>
            <a:off x="502920" y="2011680"/>
            <a:ext cx="6720840" cy="685800"/>
          </a:xfrm>
          <a:prstGeom prst="rect">
            <a:avLst/>
          </a:prstGeom>
          <a:noFill/>
          <a:ln/>
        </p:spPr>
        <p:txBody>
          <a:bodyPr wrap="square" lIns="0" tIns="0" rIns="0" bIns="0" rtlCol="0" anchor="ctr"/>
          <a:lstStyle/>
          <a:p>
            <a:pPr marL="0" indent="0">
              <a:buNone/>
            </a:pPr>
            <a:r>
              <a:rPr lang="en-US" sz="1200" dirty="0">
                <a:solidFill>
                  <a:srgbClr val="6B4B47"/>
                </a:solidFill>
                <a:latin typeface="Calibri" pitchFamily="34" charset="0"/>
                <a:ea typeface="Calibri" pitchFamily="34" charset="-122"/>
                <a:cs typeface="Calibri" pitchFamily="34" charset="-120"/>
              </a:rPr>
              <a:t>Colour and spacing values centralized as CSS custom properties (e.g., --gothic-purple, --gold), enabling high-contrast legibility under poor ambient lighting.</a:t>
            </a:r>
            <a:endParaRPr lang="en-US" sz="1200" dirty="0"/>
          </a:p>
        </p:txBody>
      </p:sp>
      <p:sp>
        <p:nvSpPr>
          <p:cNvPr id="8" name="Text 5"/>
          <p:cNvSpPr/>
          <p:nvPr/>
        </p:nvSpPr>
        <p:spPr>
          <a:xfrm>
            <a:off x="502920" y="2724912"/>
            <a:ext cx="6720840" cy="320040"/>
          </a:xfrm>
          <a:prstGeom prst="rect">
            <a:avLst/>
          </a:prstGeom>
          <a:noFill/>
          <a:ln/>
        </p:spPr>
        <p:txBody>
          <a:bodyPr wrap="square" lIns="0" tIns="0" rIns="0" bIns="0" rtlCol="0" anchor="ctr"/>
          <a:lstStyle/>
          <a:p>
            <a:pPr marL="0" indent="0">
              <a:buNone/>
            </a:pPr>
            <a:r>
              <a:rPr lang="en-US" sz="1300" b="1" dirty="0">
                <a:solidFill>
                  <a:srgbClr val="2A0D10"/>
                </a:solidFill>
                <a:latin typeface="Calibri" pitchFamily="34" charset="0"/>
                <a:ea typeface="Calibri" pitchFamily="34" charset="-122"/>
                <a:cs typeface="Calibri" pitchFamily="34" charset="-120"/>
              </a:rPr>
              <a:t>Spatial zoning model</a:t>
            </a:r>
            <a:endParaRPr lang="en-US" sz="1300" dirty="0"/>
          </a:p>
        </p:txBody>
      </p:sp>
      <p:sp>
        <p:nvSpPr>
          <p:cNvPr id="9" name="Text 6"/>
          <p:cNvSpPr/>
          <p:nvPr/>
        </p:nvSpPr>
        <p:spPr>
          <a:xfrm>
            <a:off x="502920" y="3044952"/>
            <a:ext cx="6720840" cy="685800"/>
          </a:xfrm>
          <a:prstGeom prst="rect">
            <a:avLst/>
          </a:prstGeom>
          <a:noFill/>
          <a:ln/>
        </p:spPr>
        <p:txBody>
          <a:bodyPr wrap="square" lIns="0" tIns="0" rIns="0" bIns="0" rtlCol="0" anchor="ctr"/>
          <a:lstStyle/>
          <a:p>
            <a:pPr marL="0" indent="0">
              <a:buNone/>
            </a:pPr>
            <a:r>
              <a:rPr lang="en-US" sz="1200" dirty="0">
                <a:solidFill>
                  <a:srgbClr val="6B4B47"/>
                </a:solidFill>
                <a:latin typeface="Calibri" pitchFamily="34" charset="0"/>
                <a:ea typeface="Calibri" pitchFamily="34" charset="-122"/>
                <a:cs typeface="Calibri" pitchFamily="34" charset="-120"/>
              </a:rPr>
              <a:t>A primary conversational area, a persistent favorites shortcut, and a navigation sidebar, built without an external UI framework.</a:t>
            </a:r>
            <a:endParaRPr lang="en-US" sz="1200" dirty="0"/>
          </a:p>
        </p:txBody>
      </p:sp>
      <p:sp>
        <p:nvSpPr>
          <p:cNvPr id="10" name="Text 7"/>
          <p:cNvSpPr/>
          <p:nvPr/>
        </p:nvSpPr>
        <p:spPr>
          <a:xfrm>
            <a:off x="502920" y="3758184"/>
            <a:ext cx="6720840" cy="320040"/>
          </a:xfrm>
          <a:prstGeom prst="rect">
            <a:avLst/>
          </a:prstGeom>
          <a:noFill/>
          <a:ln/>
        </p:spPr>
        <p:txBody>
          <a:bodyPr wrap="square" lIns="0" tIns="0" rIns="0" bIns="0" rtlCol="0" anchor="ctr"/>
          <a:lstStyle/>
          <a:p>
            <a:pPr marL="0" indent="0">
              <a:buNone/>
            </a:pPr>
            <a:r>
              <a:rPr lang="en-US" sz="1300" b="1" dirty="0">
                <a:solidFill>
                  <a:srgbClr val="2A0D10"/>
                </a:solidFill>
                <a:latin typeface="Calibri" pitchFamily="34" charset="0"/>
                <a:ea typeface="Calibri" pitchFamily="34" charset="-122"/>
                <a:cs typeface="Calibri" pitchFamily="34" charset="-120"/>
              </a:rPr>
              <a:t>Content-driven containers</a:t>
            </a:r>
            <a:endParaRPr lang="en-US" sz="1300" dirty="0"/>
          </a:p>
        </p:txBody>
      </p:sp>
      <p:sp>
        <p:nvSpPr>
          <p:cNvPr id="11" name="Text 8"/>
          <p:cNvSpPr/>
          <p:nvPr/>
        </p:nvSpPr>
        <p:spPr>
          <a:xfrm>
            <a:off x="502920" y="4078224"/>
            <a:ext cx="6720840" cy="685800"/>
          </a:xfrm>
          <a:prstGeom prst="rect">
            <a:avLst/>
          </a:prstGeom>
          <a:noFill/>
          <a:ln/>
        </p:spPr>
        <p:txBody>
          <a:bodyPr wrap="square" lIns="0" tIns="0" rIns="0" bIns="0" rtlCol="0" anchor="ctr"/>
          <a:lstStyle/>
          <a:p>
            <a:pPr marL="0" indent="0">
              <a:buNone/>
            </a:pPr>
            <a:r>
              <a:rPr lang="en-US" sz="1200" dirty="0">
                <a:solidFill>
                  <a:srgbClr val="6B4B47"/>
                </a:solidFill>
                <a:latin typeface="Calibri" pitchFamily="34" charset="0"/>
                <a:ea typeface="Calibri" pitchFamily="34" charset="-122"/>
                <a:cs typeface="Calibri" pitchFamily="34" charset="-120"/>
              </a:rPr>
              <a:t>Flexible, non-fixed-height chat bubbles absorb AI-generated text of unpredictable length and script (Georgian/Latin) without breaking layout margins.</a:t>
            </a:r>
            <a:endParaRPr lang="en-US" sz="1200" dirty="0"/>
          </a:p>
        </p:txBody>
      </p:sp>
      <p:sp>
        <p:nvSpPr>
          <p:cNvPr id="12" name="Shape 9"/>
          <p:cNvSpPr/>
          <p:nvPr/>
        </p:nvSpPr>
        <p:spPr>
          <a:xfrm>
            <a:off x="502920" y="4892040"/>
            <a:ext cx="6720840" cy="1234440"/>
          </a:xfrm>
          <a:prstGeom prst="roundRect">
            <a:avLst>
              <a:gd name="adj" fmla="val 5185"/>
            </a:avLst>
          </a:prstGeom>
          <a:solidFill>
            <a:srgbClr val="541016"/>
          </a:solidFill>
          <a:ln/>
        </p:spPr>
      </p:sp>
      <p:sp>
        <p:nvSpPr>
          <p:cNvPr id="13" name="Text 10"/>
          <p:cNvSpPr/>
          <p:nvPr/>
        </p:nvSpPr>
        <p:spPr>
          <a:xfrm>
            <a:off x="731520" y="4892040"/>
            <a:ext cx="6263640" cy="1234440"/>
          </a:xfrm>
          <a:prstGeom prst="rect">
            <a:avLst/>
          </a:prstGeom>
          <a:noFill/>
          <a:ln/>
        </p:spPr>
        <p:txBody>
          <a:bodyPr wrap="square" lIns="0" tIns="0" rIns="0" bIns="0" rtlCol="0" anchor="ctr"/>
          <a:lstStyle/>
          <a:p>
            <a:pPr marL="0" indent="0">
              <a:buNone/>
            </a:pPr>
            <a:r>
              <a:rPr lang="en-US" sz="1100" i="1" dirty="0">
                <a:solidFill>
                  <a:srgbClr val="E9D4CE"/>
                </a:solidFill>
                <a:latin typeface="Calibri" pitchFamily="34" charset="0"/>
                <a:ea typeface="Calibri" pitchFamily="34" charset="-122"/>
                <a:cs typeface="Calibri" pitchFamily="34" charset="-120"/>
              </a:rPr>
              <a:t>Complexity analysis (§5.3): hash-based retrieval O(1) • sliding-window context O(k) • JSON serialization O(n) — consistent with the backend's own analysis.</a:t>
            </a:r>
            <a:endParaRPr lang="en-US" sz="1100" dirty="0"/>
          </a:p>
        </p:txBody>
      </p:sp>
      <p:sp>
        <p:nvSpPr>
          <p:cNvPr id="14" name="Text 11"/>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15" name="Text 12"/>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EFE3"/>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8E1F2F"/>
                </a:solidFill>
                <a:latin typeface="Calibri" pitchFamily="34" charset="0"/>
                <a:ea typeface="Calibri" pitchFamily="34" charset="-122"/>
                <a:cs typeface="Calibri" pitchFamily="34" charset="-120"/>
              </a:rPr>
              <a:t>IDENTIFIED ENGINEERING DEFECTS</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500" b="1" dirty="0">
                <a:solidFill>
                  <a:srgbClr val="2A0D10"/>
                </a:solidFill>
                <a:latin typeface="Cambria" pitchFamily="34" charset="0"/>
                <a:ea typeface="Cambria" pitchFamily="34" charset="-122"/>
                <a:cs typeface="Cambria" pitchFamily="34" charset="-120"/>
              </a:rPr>
              <a:t>Four defects that shaped subsequent design decisions</a:t>
            </a:r>
            <a:endParaRPr lang="en-US" sz="2500" dirty="0"/>
          </a:p>
        </p:txBody>
      </p:sp>
      <p:sp>
        <p:nvSpPr>
          <p:cNvPr id="4" name="Shape 2"/>
          <p:cNvSpPr/>
          <p:nvPr/>
        </p:nvSpPr>
        <p:spPr>
          <a:xfrm>
            <a:off x="502920" y="1691640"/>
            <a:ext cx="2606040" cy="3977640"/>
          </a:xfrm>
          <a:prstGeom prst="roundRect">
            <a:avLst>
              <a:gd name="adj" fmla="val 2456"/>
            </a:avLst>
          </a:prstGeom>
          <a:solidFill>
            <a:srgbClr val="FFFFFF"/>
          </a:solidFill>
          <a:ln/>
          <a:effectLst>
            <a:outerShdw blurRad="76200" dist="25400" dir="2700000" algn="bl" rotWithShape="0">
              <a:srgbClr val="000000">
                <a:alpha val="8000"/>
              </a:srgbClr>
            </a:outerShdw>
          </a:effectLst>
        </p:spPr>
      </p:sp>
      <p:sp>
        <p:nvSpPr>
          <p:cNvPr id="5" name="Shape 3"/>
          <p:cNvSpPr/>
          <p:nvPr/>
        </p:nvSpPr>
        <p:spPr>
          <a:xfrm>
            <a:off x="731520" y="1920240"/>
            <a:ext cx="475488" cy="475488"/>
          </a:xfrm>
          <a:prstGeom prst="ellipse">
            <a:avLst/>
          </a:prstGeom>
          <a:solidFill>
            <a:srgbClr val="8E1F2F"/>
          </a:solidFill>
          <a:ln/>
        </p:spPr>
      </p:sp>
      <p:pic>
        <p:nvPicPr>
          <p:cNvPr id="6" name="Image 0" descr="images/ic_bug.png"/>
          <p:cNvPicPr>
            <a:picLocks noChangeAspect="1"/>
          </p:cNvPicPr>
          <p:nvPr/>
        </p:nvPicPr>
        <p:blipFill>
          <a:blip r:embed="rId3"/>
          <a:stretch>
            <a:fillRect/>
          </a:stretch>
        </p:blipFill>
        <p:spPr>
          <a:xfrm>
            <a:off x="859536" y="2048256"/>
            <a:ext cx="219456" cy="219456"/>
          </a:xfrm>
          <a:prstGeom prst="rect">
            <a:avLst/>
          </a:prstGeom>
        </p:spPr>
      </p:pic>
      <p:sp>
        <p:nvSpPr>
          <p:cNvPr id="7" name="Text 4"/>
          <p:cNvSpPr/>
          <p:nvPr/>
        </p:nvSpPr>
        <p:spPr>
          <a:xfrm>
            <a:off x="685800" y="2532888"/>
            <a:ext cx="2240280" cy="685800"/>
          </a:xfrm>
          <a:prstGeom prst="rect">
            <a:avLst/>
          </a:prstGeom>
          <a:noFill/>
          <a:ln/>
        </p:spPr>
        <p:txBody>
          <a:bodyPr wrap="square" lIns="0" tIns="0" rIns="0" bIns="0" rtlCol="0" anchor="ctr"/>
          <a:lstStyle/>
          <a:p>
            <a:pPr marL="0" indent="0">
              <a:buNone/>
            </a:pPr>
            <a:r>
              <a:rPr lang="en-US" sz="1250" b="1" dirty="0">
                <a:solidFill>
                  <a:srgbClr val="2A0D10"/>
                </a:solidFill>
                <a:latin typeface="Calibri" pitchFamily="34" charset="0"/>
                <a:ea typeface="Calibri" pitchFamily="34" charset="-122"/>
                <a:cs typeface="Calibri" pitchFamily="34" charset="-120"/>
              </a:rPr>
              <a:t>Contextual Memory Volatility</a:t>
            </a:r>
            <a:endParaRPr lang="en-US" sz="1250" dirty="0"/>
          </a:p>
        </p:txBody>
      </p:sp>
      <p:sp>
        <p:nvSpPr>
          <p:cNvPr id="8" name="Text 5"/>
          <p:cNvSpPr/>
          <p:nvPr/>
        </p:nvSpPr>
        <p:spPr>
          <a:xfrm>
            <a:off x="685800" y="3227832"/>
            <a:ext cx="2240280" cy="2377440"/>
          </a:xfrm>
          <a:prstGeom prst="rect">
            <a:avLst/>
          </a:prstGeom>
          <a:noFill/>
          <a:ln/>
        </p:spPr>
        <p:txBody>
          <a:bodyPr wrap="square" lIns="0" tIns="0" rIns="0" bIns="0" rtlCol="0" anchor="ctr"/>
          <a:lstStyle/>
          <a:p>
            <a:pPr marL="0" indent="0">
              <a:buNone/>
            </a:pPr>
            <a:r>
              <a:rPr lang="en-US" sz="1050" dirty="0">
                <a:solidFill>
                  <a:srgbClr val="6B4B47"/>
                </a:solidFill>
                <a:latin typeface="Calibri" pitchFamily="34" charset="0"/>
                <a:ea typeface="Calibri" pitchFamily="34" charset="-122"/>
                <a:cs typeface="Calibri" pitchFamily="34" charset="-120"/>
              </a:rPr>
              <a:t>Corrections acknowledged mid-conversation were not retained; the model reverted to an inaccurate baseline description in the subsequent turn.</a:t>
            </a:r>
            <a:endParaRPr lang="en-US" sz="1050" dirty="0"/>
          </a:p>
        </p:txBody>
      </p:sp>
      <p:sp>
        <p:nvSpPr>
          <p:cNvPr id="9" name="Shape 6"/>
          <p:cNvSpPr/>
          <p:nvPr/>
        </p:nvSpPr>
        <p:spPr>
          <a:xfrm>
            <a:off x="3328416" y="1691640"/>
            <a:ext cx="2606040" cy="3977640"/>
          </a:xfrm>
          <a:prstGeom prst="roundRect">
            <a:avLst>
              <a:gd name="adj" fmla="val 2456"/>
            </a:avLst>
          </a:prstGeom>
          <a:solidFill>
            <a:srgbClr val="FFFFFF"/>
          </a:solidFill>
          <a:ln/>
          <a:effectLst>
            <a:outerShdw blurRad="76200" dist="25400" dir="2700000" algn="bl" rotWithShape="0">
              <a:srgbClr val="000000">
                <a:alpha val="8000"/>
              </a:srgbClr>
            </a:outerShdw>
          </a:effectLst>
        </p:spPr>
      </p:sp>
      <p:sp>
        <p:nvSpPr>
          <p:cNvPr id="10" name="Shape 7"/>
          <p:cNvSpPr/>
          <p:nvPr/>
        </p:nvSpPr>
        <p:spPr>
          <a:xfrm>
            <a:off x="3557016" y="1920240"/>
            <a:ext cx="475488" cy="475488"/>
          </a:xfrm>
          <a:prstGeom prst="ellipse">
            <a:avLst/>
          </a:prstGeom>
          <a:solidFill>
            <a:srgbClr val="8E1F2F"/>
          </a:solidFill>
          <a:ln/>
        </p:spPr>
      </p:sp>
      <p:pic>
        <p:nvPicPr>
          <p:cNvPr id="11" name="Image 1" descr="images/ic_speed.png"/>
          <p:cNvPicPr>
            <a:picLocks noChangeAspect="1"/>
          </p:cNvPicPr>
          <p:nvPr/>
        </p:nvPicPr>
        <p:blipFill>
          <a:blip r:embed="rId4"/>
          <a:stretch>
            <a:fillRect/>
          </a:stretch>
        </p:blipFill>
        <p:spPr>
          <a:xfrm>
            <a:off x="3685032" y="2048256"/>
            <a:ext cx="219456" cy="219456"/>
          </a:xfrm>
          <a:prstGeom prst="rect">
            <a:avLst/>
          </a:prstGeom>
        </p:spPr>
      </p:pic>
      <p:sp>
        <p:nvSpPr>
          <p:cNvPr id="12" name="Text 8"/>
          <p:cNvSpPr/>
          <p:nvPr/>
        </p:nvSpPr>
        <p:spPr>
          <a:xfrm>
            <a:off x="3511296" y="2532888"/>
            <a:ext cx="2240280" cy="685800"/>
          </a:xfrm>
          <a:prstGeom prst="rect">
            <a:avLst/>
          </a:prstGeom>
          <a:noFill/>
          <a:ln/>
        </p:spPr>
        <p:txBody>
          <a:bodyPr wrap="square" lIns="0" tIns="0" rIns="0" bIns="0" rtlCol="0" anchor="ctr"/>
          <a:lstStyle/>
          <a:p>
            <a:pPr marL="0" indent="0">
              <a:buNone/>
            </a:pPr>
            <a:r>
              <a:rPr lang="en-US" sz="1250" b="1" dirty="0">
                <a:solidFill>
                  <a:srgbClr val="2A0D10"/>
                </a:solidFill>
                <a:latin typeface="Calibri" pitchFamily="34" charset="0"/>
                <a:ea typeface="Calibri" pitchFamily="34" charset="-122"/>
                <a:cs typeface="Calibri" pitchFamily="34" charset="-120"/>
              </a:rPr>
              <a:t>Inference Latency &amp; Rate-Limiting</a:t>
            </a:r>
            <a:endParaRPr lang="en-US" sz="1250" dirty="0"/>
          </a:p>
        </p:txBody>
      </p:sp>
      <p:sp>
        <p:nvSpPr>
          <p:cNvPr id="13" name="Text 9"/>
          <p:cNvSpPr/>
          <p:nvPr/>
        </p:nvSpPr>
        <p:spPr>
          <a:xfrm>
            <a:off x="3511296" y="3227832"/>
            <a:ext cx="2240280" cy="2377440"/>
          </a:xfrm>
          <a:prstGeom prst="rect">
            <a:avLst/>
          </a:prstGeom>
          <a:noFill/>
          <a:ln/>
        </p:spPr>
        <p:txBody>
          <a:bodyPr wrap="square" lIns="0" tIns="0" rIns="0" bIns="0" rtlCol="0" anchor="ctr"/>
          <a:lstStyle/>
          <a:p>
            <a:pPr marL="0" indent="0">
              <a:buNone/>
            </a:pPr>
            <a:r>
              <a:rPr lang="en-US" sz="1050" dirty="0">
                <a:solidFill>
                  <a:srgbClr val="6B4B47"/>
                </a:solidFill>
                <a:latin typeface="Calibri" pitchFamily="34" charset="0"/>
                <a:ea typeface="Calibri" pitchFamily="34" charset="-122"/>
                <a:cs typeface="Calibri" pitchFamily="34" charset="-120"/>
              </a:rPr>
              <a:t>The initial Gemini API integration produced frequent HTTP 429 (Too Many Requests) responses under moderate load, degrading responsiveness.</a:t>
            </a:r>
            <a:endParaRPr lang="en-US" sz="1050" dirty="0"/>
          </a:p>
        </p:txBody>
      </p:sp>
      <p:sp>
        <p:nvSpPr>
          <p:cNvPr id="14" name="Shape 10"/>
          <p:cNvSpPr/>
          <p:nvPr/>
        </p:nvSpPr>
        <p:spPr>
          <a:xfrm>
            <a:off x="6153912" y="1691640"/>
            <a:ext cx="2606040" cy="3977640"/>
          </a:xfrm>
          <a:prstGeom prst="roundRect">
            <a:avLst>
              <a:gd name="adj" fmla="val 2456"/>
            </a:avLst>
          </a:prstGeom>
          <a:solidFill>
            <a:srgbClr val="FFFFFF"/>
          </a:solidFill>
          <a:ln/>
          <a:effectLst>
            <a:outerShdw blurRad="76200" dist="25400" dir="2700000" algn="bl" rotWithShape="0">
              <a:srgbClr val="000000">
                <a:alpha val="8000"/>
              </a:srgbClr>
            </a:outerShdw>
          </a:effectLst>
        </p:spPr>
      </p:sp>
      <p:sp>
        <p:nvSpPr>
          <p:cNvPr id="15" name="Shape 11"/>
          <p:cNvSpPr/>
          <p:nvPr/>
        </p:nvSpPr>
        <p:spPr>
          <a:xfrm>
            <a:off x="6382512" y="1920240"/>
            <a:ext cx="475488" cy="475488"/>
          </a:xfrm>
          <a:prstGeom prst="ellipse">
            <a:avLst/>
          </a:prstGeom>
          <a:solidFill>
            <a:srgbClr val="8E1F2F"/>
          </a:solidFill>
          <a:ln/>
        </p:spPr>
      </p:sp>
      <p:pic>
        <p:nvPicPr>
          <p:cNvPr id="16" name="Image 2" descr="images/ic_security.png"/>
          <p:cNvPicPr>
            <a:picLocks noChangeAspect="1"/>
          </p:cNvPicPr>
          <p:nvPr/>
        </p:nvPicPr>
        <p:blipFill>
          <a:blip r:embed="rId5"/>
          <a:stretch>
            <a:fillRect/>
          </a:stretch>
        </p:blipFill>
        <p:spPr>
          <a:xfrm>
            <a:off x="6510528" y="2048256"/>
            <a:ext cx="219456" cy="219456"/>
          </a:xfrm>
          <a:prstGeom prst="rect">
            <a:avLst/>
          </a:prstGeom>
        </p:spPr>
      </p:pic>
      <p:sp>
        <p:nvSpPr>
          <p:cNvPr id="17" name="Text 12"/>
          <p:cNvSpPr/>
          <p:nvPr/>
        </p:nvSpPr>
        <p:spPr>
          <a:xfrm>
            <a:off x="6336792" y="2532888"/>
            <a:ext cx="2240280" cy="685800"/>
          </a:xfrm>
          <a:prstGeom prst="rect">
            <a:avLst/>
          </a:prstGeom>
          <a:noFill/>
          <a:ln/>
        </p:spPr>
        <p:txBody>
          <a:bodyPr wrap="square" lIns="0" tIns="0" rIns="0" bIns="0" rtlCol="0" anchor="ctr"/>
          <a:lstStyle/>
          <a:p>
            <a:pPr marL="0" indent="0">
              <a:buNone/>
            </a:pPr>
            <a:r>
              <a:rPr lang="en-US" sz="1250" b="1" dirty="0">
                <a:solidFill>
                  <a:srgbClr val="2A0D10"/>
                </a:solidFill>
                <a:latin typeface="Calibri" pitchFamily="34" charset="0"/>
                <a:ea typeface="Calibri" pitchFamily="34" charset="-122"/>
                <a:cs typeface="Calibri" pitchFamily="34" charset="-120"/>
              </a:rPr>
              <a:t>Session Data Isolation Vulnerability</a:t>
            </a:r>
            <a:endParaRPr lang="en-US" sz="1250" dirty="0"/>
          </a:p>
        </p:txBody>
      </p:sp>
      <p:sp>
        <p:nvSpPr>
          <p:cNvPr id="18" name="Text 13"/>
          <p:cNvSpPr/>
          <p:nvPr/>
        </p:nvSpPr>
        <p:spPr>
          <a:xfrm>
            <a:off x="6336792" y="3227832"/>
            <a:ext cx="2240280" cy="2377440"/>
          </a:xfrm>
          <a:prstGeom prst="rect">
            <a:avLst/>
          </a:prstGeom>
          <a:noFill/>
          <a:ln/>
        </p:spPr>
        <p:txBody>
          <a:bodyPr wrap="square" lIns="0" tIns="0" rIns="0" bIns="0" rtlCol="0" anchor="ctr"/>
          <a:lstStyle/>
          <a:p>
            <a:pPr marL="0" indent="0">
              <a:buNone/>
            </a:pPr>
            <a:r>
              <a:rPr lang="en-US" sz="1050" dirty="0">
                <a:solidFill>
                  <a:srgbClr val="6B4B47"/>
                </a:solidFill>
                <a:latin typeface="Calibri" pitchFamily="34" charset="0"/>
                <a:ea typeface="Calibri" pitchFamily="34" charset="-122"/>
                <a:cs typeface="Calibri" pitchFamily="34" charset="-120"/>
              </a:rPr>
              <a:t>Concurrent normal and incognito sessions exposed unscoped reads on the history and favorites routes, permitting cross-session data access.</a:t>
            </a:r>
            <a:endParaRPr lang="en-US" sz="1050" dirty="0"/>
          </a:p>
        </p:txBody>
      </p:sp>
      <p:sp>
        <p:nvSpPr>
          <p:cNvPr id="19" name="Shape 14"/>
          <p:cNvSpPr/>
          <p:nvPr/>
        </p:nvSpPr>
        <p:spPr>
          <a:xfrm>
            <a:off x="8979408" y="1691640"/>
            <a:ext cx="2606040" cy="3977640"/>
          </a:xfrm>
          <a:prstGeom prst="roundRect">
            <a:avLst>
              <a:gd name="adj" fmla="val 2456"/>
            </a:avLst>
          </a:prstGeom>
          <a:solidFill>
            <a:srgbClr val="FFFFFF"/>
          </a:solidFill>
          <a:ln/>
          <a:effectLst>
            <a:outerShdw blurRad="76200" dist="25400" dir="2700000" algn="bl" rotWithShape="0">
              <a:srgbClr val="000000">
                <a:alpha val="8000"/>
              </a:srgbClr>
            </a:outerShdw>
          </a:effectLst>
        </p:spPr>
      </p:sp>
      <p:sp>
        <p:nvSpPr>
          <p:cNvPr id="20" name="Shape 15"/>
          <p:cNvSpPr/>
          <p:nvPr/>
        </p:nvSpPr>
        <p:spPr>
          <a:xfrm>
            <a:off x="9208008" y="1920240"/>
            <a:ext cx="475488" cy="475488"/>
          </a:xfrm>
          <a:prstGeom prst="ellipse">
            <a:avLst/>
          </a:prstGeom>
          <a:solidFill>
            <a:srgbClr val="8E1F2F"/>
          </a:solidFill>
          <a:ln/>
        </p:spPr>
      </p:sp>
      <p:pic>
        <p:nvPicPr>
          <p:cNvPr id="21" name="Image 3" descr="images/ic_code.png"/>
          <p:cNvPicPr>
            <a:picLocks noChangeAspect="1"/>
          </p:cNvPicPr>
          <p:nvPr/>
        </p:nvPicPr>
        <p:blipFill>
          <a:blip r:embed="rId6"/>
          <a:stretch>
            <a:fillRect/>
          </a:stretch>
        </p:blipFill>
        <p:spPr>
          <a:xfrm>
            <a:off x="9336024" y="2048256"/>
            <a:ext cx="219456" cy="219456"/>
          </a:xfrm>
          <a:prstGeom prst="rect">
            <a:avLst/>
          </a:prstGeom>
        </p:spPr>
      </p:pic>
      <p:sp>
        <p:nvSpPr>
          <p:cNvPr id="22" name="Text 16"/>
          <p:cNvSpPr/>
          <p:nvPr/>
        </p:nvSpPr>
        <p:spPr>
          <a:xfrm>
            <a:off x="9162288" y="2532888"/>
            <a:ext cx="2240280" cy="685800"/>
          </a:xfrm>
          <a:prstGeom prst="rect">
            <a:avLst/>
          </a:prstGeom>
          <a:noFill/>
          <a:ln/>
        </p:spPr>
        <p:txBody>
          <a:bodyPr wrap="square" lIns="0" tIns="0" rIns="0" bIns="0" rtlCol="0" anchor="ctr"/>
          <a:lstStyle/>
          <a:p>
            <a:pPr marL="0" indent="0">
              <a:buNone/>
            </a:pPr>
            <a:r>
              <a:rPr lang="en-US" sz="1250" b="1" dirty="0">
                <a:solidFill>
                  <a:srgbClr val="2A0D10"/>
                </a:solidFill>
                <a:latin typeface="Calibri" pitchFamily="34" charset="0"/>
                <a:ea typeface="Calibri" pitchFamily="34" charset="-122"/>
                <a:cs typeface="Calibri" pitchFamily="34" charset="-120"/>
              </a:rPr>
              <a:t>Dynamic Content Overflow</a:t>
            </a:r>
            <a:endParaRPr lang="en-US" sz="1250" dirty="0"/>
          </a:p>
        </p:txBody>
      </p:sp>
      <p:sp>
        <p:nvSpPr>
          <p:cNvPr id="23" name="Text 17"/>
          <p:cNvSpPr/>
          <p:nvPr/>
        </p:nvSpPr>
        <p:spPr>
          <a:xfrm>
            <a:off x="9162288" y="3227832"/>
            <a:ext cx="2240280" cy="2377440"/>
          </a:xfrm>
          <a:prstGeom prst="rect">
            <a:avLst/>
          </a:prstGeom>
          <a:noFill/>
          <a:ln/>
        </p:spPr>
        <p:txBody>
          <a:bodyPr wrap="square" lIns="0" tIns="0" rIns="0" bIns="0" rtlCol="0" anchor="ctr"/>
          <a:lstStyle/>
          <a:p>
            <a:pPr marL="0" indent="0">
              <a:buNone/>
            </a:pPr>
            <a:r>
              <a:rPr lang="en-US" sz="1050" dirty="0">
                <a:solidFill>
                  <a:srgbClr val="6B4B47"/>
                </a:solidFill>
                <a:latin typeface="Calibri" pitchFamily="34" charset="0"/>
                <a:ea typeface="Calibri" pitchFamily="34" charset="-122"/>
                <a:cs typeface="Calibri" pitchFamily="34" charset="-120"/>
              </a:rPr>
              <a:t>AI-generated text of unpredictable length risked exceeding fixed-layout chat bubble boundaries, particularly across script boundaries.</a:t>
            </a:r>
            <a:endParaRPr lang="en-US" sz="1050" dirty="0"/>
          </a:p>
        </p:txBody>
      </p:sp>
      <p:sp>
        <p:nvSpPr>
          <p:cNvPr id="24" name="Text 18"/>
          <p:cNvSpPr/>
          <p:nvPr/>
        </p:nvSpPr>
        <p:spPr>
          <a:xfrm>
            <a:off x="502920" y="5806440"/>
            <a:ext cx="10515600" cy="320040"/>
          </a:xfrm>
          <a:prstGeom prst="rect">
            <a:avLst/>
          </a:prstGeom>
          <a:noFill/>
          <a:ln/>
        </p:spPr>
        <p:txBody>
          <a:bodyPr wrap="square" lIns="0" tIns="0" rIns="0" bIns="0" rtlCol="0" anchor="ctr"/>
          <a:lstStyle/>
          <a:p>
            <a:pPr marL="0" indent="0">
              <a:buNone/>
            </a:pPr>
            <a:r>
              <a:rPr lang="en-US" sz="1100" i="1" dirty="0">
                <a:solidFill>
                  <a:srgbClr val="6B4B47"/>
                </a:solidFill>
                <a:latin typeface="Calibri" pitchFamily="34" charset="0"/>
                <a:ea typeface="Calibri" pitchFamily="34" charset="-122"/>
                <a:cs typeface="Calibri" pitchFamily="34" charset="-120"/>
              </a:rPr>
              <a:t>A comprehensive log of sixteen identified and resolved defects is documented in Table 4.1 of the backend thesis.</a:t>
            </a:r>
            <a:endParaRPr lang="en-US" sz="1100" dirty="0"/>
          </a:p>
        </p:txBody>
      </p:sp>
      <p:sp>
        <p:nvSpPr>
          <p:cNvPr id="25" name="Text 19"/>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26" name="Text 20"/>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541016"/>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B23A4E"/>
                </a:solidFill>
                <a:latin typeface="Calibri" pitchFamily="34" charset="0"/>
                <a:ea typeface="Calibri" pitchFamily="34" charset="-122"/>
                <a:cs typeface="Calibri" pitchFamily="34" charset="-120"/>
              </a:rPr>
              <a:t>ENGINEERING SOLUTIONS &amp; REMEDIATION</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Each defect resolved by a targeted architectural change</a:t>
            </a:r>
            <a:endParaRPr lang="en-US" sz="2400" dirty="0"/>
          </a:p>
        </p:txBody>
      </p:sp>
      <p:sp>
        <p:nvSpPr>
          <p:cNvPr id="4" name="Shape 2"/>
          <p:cNvSpPr/>
          <p:nvPr/>
        </p:nvSpPr>
        <p:spPr>
          <a:xfrm>
            <a:off x="502920" y="1737360"/>
            <a:ext cx="2606040" cy="3474720"/>
          </a:xfrm>
          <a:prstGeom prst="roundRect">
            <a:avLst>
              <a:gd name="adj" fmla="val 2456"/>
            </a:avLst>
          </a:prstGeom>
          <a:solidFill>
            <a:srgbClr val="6E1620"/>
          </a:solidFill>
          <a:ln/>
        </p:spPr>
      </p:sp>
      <p:sp>
        <p:nvSpPr>
          <p:cNvPr id="5" name="Text 3"/>
          <p:cNvSpPr/>
          <p:nvPr/>
        </p:nvSpPr>
        <p:spPr>
          <a:xfrm>
            <a:off x="685800" y="1938528"/>
            <a:ext cx="2240280" cy="640080"/>
          </a:xfrm>
          <a:prstGeom prst="rect">
            <a:avLst/>
          </a:prstGeom>
          <a:noFill/>
          <a:ln/>
        </p:spPr>
        <p:txBody>
          <a:bodyPr wrap="square" lIns="0" tIns="0" rIns="0" bIns="0" rtlCol="0" anchor="ctr"/>
          <a:lstStyle/>
          <a:p>
            <a:pPr marL="0" indent="0">
              <a:buNone/>
            </a:pPr>
            <a:r>
              <a:rPr lang="en-US" sz="1200" b="1" dirty="0">
                <a:solidFill>
                  <a:srgbClr val="B23A4E"/>
                </a:solidFill>
                <a:latin typeface="Calibri" pitchFamily="34" charset="0"/>
                <a:ea typeface="Calibri" pitchFamily="34" charset="-122"/>
                <a:cs typeface="Calibri" pitchFamily="34" charset="-120"/>
              </a:rPr>
              <a:t>Contextual Memory Volatility</a:t>
            </a:r>
            <a:endParaRPr lang="en-US" sz="1200" dirty="0"/>
          </a:p>
        </p:txBody>
      </p:sp>
      <p:sp>
        <p:nvSpPr>
          <p:cNvPr id="6" name="Shape 4"/>
          <p:cNvSpPr/>
          <p:nvPr/>
        </p:nvSpPr>
        <p:spPr>
          <a:xfrm>
            <a:off x="685800" y="2578608"/>
            <a:ext cx="2240280" cy="0"/>
          </a:xfrm>
          <a:prstGeom prst="line">
            <a:avLst/>
          </a:prstGeom>
          <a:noFill/>
          <a:ln w="12700">
            <a:solidFill>
              <a:srgbClr val="8A4A4E"/>
            </a:solidFill>
            <a:prstDash val="solid"/>
          </a:ln>
        </p:spPr>
      </p:sp>
      <p:sp>
        <p:nvSpPr>
          <p:cNvPr id="7" name="Text 5"/>
          <p:cNvSpPr/>
          <p:nvPr/>
        </p:nvSpPr>
        <p:spPr>
          <a:xfrm>
            <a:off x="685800" y="2724912"/>
            <a:ext cx="2240280" cy="2331720"/>
          </a:xfrm>
          <a:prstGeom prst="rect">
            <a:avLst/>
          </a:prstGeom>
          <a:noFill/>
          <a:ln/>
        </p:spPr>
        <p:txBody>
          <a:bodyPr wrap="square" lIns="0" tIns="0" rIns="0" bIns="0" rtlCol="0" anchor="ctr"/>
          <a:lstStyle/>
          <a:p>
            <a:pPr marL="0" indent="0">
              <a:buNone/>
            </a:pPr>
            <a:r>
              <a:rPr lang="en-US" sz="1100" dirty="0">
                <a:solidFill>
                  <a:srgbClr val="E9D4CE"/>
                </a:solidFill>
                <a:latin typeface="Calibri" pitchFamily="34" charset="0"/>
                <a:ea typeface="Calibri" pitchFamily="34" charset="-122"/>
                <a:cs typeface="Calibri" pitchFamily="34" charset="-120"/>
              </a:rPr>
              <a:t>Recipe Correction Memory Engine persists corrections to disk and re-injects them into every subsequent prompt.</a:t>
            </a:r>
            <a:endParaRPr lang="en-US" sz="1100" dirty="0"/>
          </a:p>
        </p:txBody>
      </p:sp>
      <p:sp>
        <p:nvSpPr>
          <p:cNvPr id="8" name="Shape 6"/>
          <p:cNvSpPr/>
          <p:nvPr/>
        </p:nvSpPr>
        <p:spPr>
          <a:xfrm>
            <a:off x="3328416" y="1737360"/>
            <a:ext cx="2606040" cy="3474720"/>
          </a:xfrm>
          <a:prstGeom prst="roundRect">
            <a:avLst>
              <a:gd name="adj" fmla="val 2456"/>
            </a:avLst>
          </a:prstGeom>
          <a:solidFill>
            <a:srgbClr val="6E1620"/>
          </a:solidFill>
          <a:ln/>
        </p:spPr>
      </p:sp>
      <p:sp>
        <p:nvSpPr>
          <p:cNvPr id="9" name="Text 7"/>
          <p:cNvSpPr/>
          <p:nvPr/>
        </p:nvSpPr>
        <p:spPr>
          <a:xfrm>
            <a:off x="3511296" y="1938528"/>
            <a:ext cx="2240280" cy="640080"/>
          </a:xfrm>
          <a:prstGeom prst="rect">
            <a:avLst/>
          </a:prstGeom>
          <a:noFill/>
          <a:ln/>
        </p:spPr>
        <p:txBody>
          <a:bodyPr wrap="square" lIns="0" tIns="0" rIns="0" bIns="0" rtlCol="0" anchor="ctr"/>
          <a:lstStyle/>
          <a:p>
            <a:pPr marL="0" indent="0">
              <a:buNone/>
            </a:pPr>
            <a:r>
              <a:rPr lang="en-US" sz="1200" b="1" dirty="0">
                <a:solidFill>
                  <a:srgbClr val="B23A4E"/>
                </a:solidFill>
                <a:latin typeface="Calibri" pitchFamily="34" charset="0"/>
                <a:ea typeface="Calibri" pitchFamily="34" charset="-122"/>
                <a:cs typeface="Calibri" pitchFamily="34" charset="-120"/>
              </a:rPr>
              <a:t>Latency &amp; Rate-Limiting</a:t>
            </a:r>
            <a:endParaRPr lang="en-US" sz="1200" dirty="0"/>
          </a:p>
        </p:txBody>
      </p:sp>
      <p:sp>
        <p:nvSpPr>
          <p:cNvPr id="10" name="Shape 8"/>
          <p:cNvSpPr/>
          <p:nvPr/>
        </p:nvSpPr>
        <p:spPr>
          <a:xfrm>
            <a:off x="3511296" y="2578608"/>
            <a:ext cx="2240280" cy="0"/>
          </a:xfrm>
          <a:prstGeom prst="line">
            <a:avLst/>
          </a:prstGeom>
          <a:noFill/>
          <a:ln w="12700">
            <a:solidFill>
              <a:srgbClr val="8A4A4E"/>
            </a:solidFill>
            <a:prstDash val="solid"/>
          </a:ln>
        </p:spPr>
      </p:sp>
      <p:sp>
        <p:nvSpPr>
          <p:cNvPr id="11" name="Text 9"/>
          <p:cNvSpPr/>
          <p:nvPr/>
        </p:nvSpPr>
        <p:spPr>
          <a:xfrm>
            <a:off x="3511296" y="2724912"/>
            <a:ext cx="2240280" cy="2331720"/>
          </a:xfrm>
          <a:prstGeom prst="rect">
            <a:avLst/>
          </a:prstGeom>
          <a:noFill/>
          <a:ln/>
        </p:spPr>
        <p:txBody>
          <a:bodyPr wrap="square" lIns="0" tIns="0" rIns="0" bIns="0" rtlCol="0" anchor="ctr"/>
          <a:lstStyle/>
          <a:p>
            <a:pPr marL="0" indent="0">
              <a:buNone/>
            </a:pPr>
            <a:r>
              <a:rPr lang="en-US" sz="1100" dirty="0">
                <a:solidFill>
                  <a:srgbClr val="E9D4CE"/>
                </a:solidFill>
                <a:latin typeface="Calibri" pitchFamily="34" charset="0"/>
                <a:ea typeface="Calibri" pitchFamily="34" charset="-122"/>
                <a:cs typeface="Calibri" pitchFamily="34" charset="-120"/>
              </a:rPr>
              <a:t>Migration to Groq / Llama-3.3-70b-versatile: ~74.5% average latency reduction, 100% request success rate.</a:t>
            </a:r>
            <a:endParaRPr lang="en-US" sz="1100" dirty="0"/>
          </a:p>
        </p:txBody>
      </p:sp>
      <p:sp>
        <p:nvSpPr>
          <p:cNvPr id="12" name="Shape 10"/>
          <p:cNvSpPr/>
          <p:nvPr/>
        </p:nvSpPr>
        <p:spPr>
          <a:xfrm>
            <a:off x="6153912" y="1737360"/>
            <a:ext cx="2606040" cy="3474720"/>
          </a:xfrm>
          <a:prstGeom prst="roundRect">
            <a:avLst>
              <a:gd name="adj" fmla="val 2456"/>
            </a:avLst>
          </a:prstGeom>
          <a:solidFill>
            <a:srgbClr val="6E1620"/>
          </a:solidFill>
          <a:ln/>
        </p:spPr>
      </p:sp>
      <p:sp>
        <p:nvSpPr>
          <p:cNvPr id="13" name="Text 11"/>
          <p:cNvSpPr/>
          <p:nvPr/>
        </p:nvSpPr>
        <p:spPr>
          <a:xfrm>
            <a:off x="6336792" y="1938528"/>
            <a:ext cx="2240280" cy="640080"/>
          </a:xfrm>
          <a:prstGeom prst="rect">
            <a:avLst/>
          </a:prstGeom>
          <a:noFill/>
          <a:ln/>
        </p:spPr>
        <p:txBody>
          <a:bodyPr wrap="square" lIns="0" tIns="0" rIns="0" bIns="0" rtlCol="0" anchor="ctr"/>
          <a:lstStyle/>
          <a:p>
            <a:pPr marL="0" indent="0">
              <a:buNone/>
            </a:pPr>
            <a:r>
              <a:rPr lang="en-US" sz="1200" b="1" dirty="0">
                <a:solidFill>
                  <a:srgbClr val="B23A4E"/>
                </a:solidFill>
                <a:latin typeface="Calibri" pitchFamily="34" charset="0"/>
                <a:ea typeface="Calibri" pitchFamily="34" charset="-122"/>
                <a:cs typeface="Calibri" pitchFamily="34" charset="-120"/>
              </a:rPr>
              <a:t>Session Isolation Vulnerability</a:t>
            </a:r>
            <a:endParaRPr lang="en-US" sz="1200" dirty="0"/>
          </a:p>
        </p:txBody>
      </p:sp>
      <p:sp>
        <p:nvSpPr>
          <p:cNvPr id="14" name="Shape 12"/>
          <p:cNvSpPr/>
          <p:nvPr/>
        </p:nvSpPr>
        <p:spPr>
          <a:xfrm>
            <a:off x="6336792" y="2578608"/>
            <a:ext cx="2240280" cy="0"/>
          </a:xfrm>
          <a:prstGeom prst="line">
            <a:avLst/>
          </a:prstGeom>
          <a:noFill/>
          <a:ln w="12700">
            <a:solidFill>
              <a:srgbClr val="8A4A4E"/>
            </a:solidFill>
            <a:prstDash val="solid"/>
          </a:ln>
        </p:spPr>
      </p:sp>
      <p:sp>
        <p:nvSpPr>
          <p:cNvPr id="15" name="Text 13"/>
          <p:cNvSpPr/>
          <p:nvPr/>
        </p:nvSpPr>
        <p:spPr>
          <a:xfrm>
            <a:off x="6336792" y="2724912"/>
            <a:ext cx="2240280" cy="2331720"/>
          </a:xfrm>
          <a:prstGeom prst="rect">
            <a:avLst/>
          </a:prstGeom>
          <a:noFill/>
          <a:ln/>
        </p:spPr>
        <p:txBody>
          <a:bodyPr wrap="square" lIns="0" tIns="0" rIns="0" bIns="0" rtlCol="0" anchor="ctr"/>
          <a:lstStyle/>
          <a:p>
            <a:pPr marL="0" indent="0">
              <a:buNone/>
            </a:pPr>
            <a:r>
              <a:rPr lang="en-US" sz="1100" dirty="0">
                <a:solidFill>
                  <a:srgbClr val="E9D4CE"/>
                </a:solidFill>
                <a:latin typeface="Calibri" pitchFamily="34" charset="0"/>
                <a:ea typeface="Calibri" pitchFamily="34" charset="-122"/>
                <a:cs typeface="Calibri" pitchFamily="34" charset="-120"/>
              </a:rPr>
              <a:t>Mandatory user_id field on every record; all reads routed through get_user_history() / get_user_fav().</a:t>
            </a:r>
            <a:endParaRPr lang="en-US" sz="1100" dirty="0"/>
          </a:p>
        </p:txBody>
      </p:sp>
      <p:sp>
        <p:nvSpPr>
          <p:cNvPr id="16" name="Shape 14"/>
          <p:cNvSpPr/>
          <p:nvPr/>
        </p:nvSpPr>
        <p:spPr>
          <a:xfrm>
            <a:off x="8979408" y="1737360"/>
            <a:ext cx="2606040" cy="3474720"/>
          </a:xfrm>
          <a:prstGeom prst="roundRect">
            <a:avLst>
              <a:gd name="adj" fmla="val 2456"/>
            </a:avLst>
          </a:prstGeom>
          <a:solidFill>
            <a:srgbClr val="6E1620"/>
          </a:solidFill>
          <a:ln/>
        </p:spPr>
      </p:sp>
      <p:sp>
        <p:nvSpPr>
          <p:cNvPr id="17" name="Text 15"/>
          <p:cNvSpPr/>
          <p:nvPr/>
        </p:nvSpPr>
        <p:spPr>
          <a:xfrm>
            <a:off x="9162288" y="1938528"/>
            <a:ext cx="2240280" cy="640080"/>
          </a:xfrm>
          <a:prstGeom prst="rect">
            <a:avLst/>
          </a:prstGeom>
          <a:noFill/>
          <a:ln/>
        </p:spPr>
        <p:txBody>
          <a:bodyPr wrap="square" lIns="0" tIns="0" rIns="0" bIns="0" rtlCol="0" anchor="ctr"/>
          <a:lstStyle/>
          <a:p>
            <a:pPr marL="0" indent="0">
              <a:buNone/>
            </a:pPr>
            <a:r>
              <a:rPr lang="en-US" sz="1200" b="1" dirty="0">
                <a:solidFill>
                  <a:srgbClr val="B23A4E"/>
                </a:solidFill>
                <a:latin typeface="Calibri" pitchFamily="34" charset="0"/>
                <a:ea typeface="Calibri" pitchFamily="34" charset="-122"/>
                <a:cs typeface="Calibri" pitchFamily="34" charset="-120"/>
              </a:rPr>
              <a:t>Dynamic Content Overflow</a:t>
            </a:r>
            <a:endParaRPr lang="en-US" sz="1200" dirty="0"/>
          </a:p>
        </p:txBody>
      </p:sp>
      <p:sp>
        <p:nvSpPr>
          <p:cNvPr id="18" name="Shape 16"/>
          <p:cNvSpPr/>
          <p:nvPr/>
        </p:nvSpPr>
        <p:spPr>
          <a:xfrm>
            <a:off x="9162288" y="2578608"/>
            <a:ext cx="2240280" cy="0"/>
          </a:xfrm>
          <a:prstGeom prst="line">
            <a:avLst/>
          </a:prstGeom>
          <a:noFill/>
          <a:ln w="12700">
            <a:solidFill>
              <a:srgbClr val="8A4A4E"/>
            </a:solidFill>
            <a:prstDash val="solid"/>
          </a:ln>
        </p:spPr>
      </p:sp>
      <p:sp>
        <p:nvSpPr>
          <p:cNvPr id="19" name="Text 17"/>
          <p:cNvSpPr/>
          <p:nvPr/>
        </p:nvSpPr>
        <p:spPr>
          <a:xfrm>
            <a:off x="9162288" y="2724912"/>
            <a:ext cx="2240280" cy="2331720"/>
          </a:xfrm>
          <a:prstGeom prst="rect">
            <a:avLst/>
          </a:prstGeom>
          <a:noFill/>
          <a:ln/>
        </p:spPr>
        <p:txBody>
          <a:bodyPr wrap="square" lIns="0" tIns="0" rIns="0" bIns="0" rtlCol="0" anchor="ctr"/>
          <a:lstStyle/>
          <a:p>
            <a:pPr marL="0" indent="0">
              <a:buNone/>
            </a:pPr>
            <a:r>
              <a:rPr lang="en-US" sz="1100" dirty="0">
                <a:solidFill>
                  <a:srgbClr val="E9D4CE"/>
                </a:solidFill>
                <a:latin typeface="Calibri" pitchFamily="34" charset="0"/>
                <a:ea typeface="Calibri" pitchFamily="34" charset="-122"/>
                <a:cs typeface="Calibri" pitchFamily="34" charset="-120"/>
              </a:rPr>
              <a:t>Content-driven, non-fixed-height CSS containers; verified at 1920px, 768px, and 360px viewports.</a:t>
            </a:r>
            <a:endParaRPr lang="en-US" sz="1100" dirty="0"/>
          </a:p>
        </p:txBody>
      </p:sp>
      <p:sp>
        <p:nvSpPr>
          <p:cNvPr id="20" name="Shape 18"/>
          <p:cNvSpPr/>
          <p:nvPr/>
        </p:nvSpPr>
        <p:spPr>
          <a:xfrm>
            <a:off x="502920" y="5440680"/>
            <a:ext cx="11201400" cy="914400"/>
          </a:xfrm>
          <a:prstGeom prst="roundRect">
            <a:avLst>
              <a:gd name="adj" fmla="val 7000"/>
            </a:avLst>
          </a:prstGeom>
          <a:solidFill>
            <a:srgbClr val="8E1F2F"/>
          </a:solidFill>
          <a:ln/>
        </p:spPr>
      </p:sp>
      <p:sp>
        <p:nvSpPr>
          <p:cNvPr id="21" name="Text 19"/>
          <p:cNvSpPr/>
          <p:nvPr/>
        </p:nvSpPr>
        <p:spPr>
          <a:xfrm>
            <a:off x="777240" y="5440680"/>
            <a:ext cx="10652760" cy="91440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Shared engineering principle: the favorites-route vulnerability originated from duplicated route logic — duplicating a code structure duplicates its inherent defects.</a:t>
            </a:r>
            <a:endParaRPr lang="en-US" sz="1150" dirty="0"/>
          </a:p>
        </p:txBody>
      </p:sp>
      <p:sp>
        <p:nvSpPr>
          <p:cNvPr id="22" name="Text 20"/>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23" name="Text 21"/>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EFE3"/>
        </a:solidFill>
        <a:effectLst/>
      </p:bgPr>
    </p:bg>
    <p:spTree>
      <p:nvGrpSpPr>
        <p:cNvPr id="1" name=""/>
        <p:cNvGrpSpPr/>
        <p:nvPr/>
      </p:nvGrpSpPr>
      <p:grpSpPr>
        <a:xfrm>
          <a:off x="0" y="0"/>
          <a:ext cx="0" cy="0"/>
          <a:chOff x="0" y="0"/>
          <a:chExt cx="0" cy="0"/>
        </a:xfrm>
      </p:grpSpPr>
      <p:sp>
        <p:nvSpPr>
          <p:cNvPr id="2" name="Text 0"/>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8E1F2F"/>
                </a:solidFill>
                <a:latin typeface="Calibri" pitchFamily="34" charset="0"/>
                <a:ea typeface="Calibri" pitchFamily="34" charset="-122"/>
                <a:cs typeface="Calibri" pitchFamily="34" charset="-120"/>
              </a:rPr>
              <a:t>RESULTS AND EVALUATION</a:t>
            </a:r>
            <a:endParaRPr lang="en-US" sz="1250" dirty="0"/>
          </a:p>
        </p:txBody>
      </p:sp>
      <p:sp>
        <p:nvSpPr>
          <p:cNvPr id="3" name="Text 1"/>
          <p:cNvSpPr/>
          <p:nvPr/>
        </p:nvSpPr>
        <p:spPr>
          <a:xfrm>
            <a:off x="502920" y="640080"/>
            <a:ext cx="10789920" cy="777240"/>
          </a:xfrm>
          <a:prstGeom prst="rect">
            <a:avLst/>
          </a:prstGeom>
          <a:noFill/>
          <a:ln/>
        </p:spPr>
        <p:txBody>
          <a:bodyPr wrap="square" lIns="0" tIns="0" rIns="0" bIns="0" rtlCol="0" anchor="ctr"/>
          <a:lstStyle/>
          <a:p>
            <a:pPr marL="0" indent="0">
              <a:buNone/>
            </a:pPr>
            <a:r>
              <a:rPr lang="en-US" sz="2500" b="1" dirty="0">
                <a:solidFill>
                  <a:srgbClr val="2A0D10"/>
                </a:solidFill>
                <a:latin typeface="Cambria" pitchFamily="34" charset="0"/>
                <a:ea typeface="Cambria" pitchFamily="34" charset="-122"/>
                <a:cs typeface="Cambria" pitchFamily="34" charset="-120"/>
              </a:rPr>
              <a:t>Quantitative verification, backend and frontend</a:t>
            </a:r>
            <a:endParaRPr lang="en-US" sz="2500" dirty="0"/>
          </a:p>
        </p:txBody>
      </p:sp>
      <p:graphicFrame>
        <p:nvGraphicFramePr>
          <p:cNvPr id="4" name="Chart 0"/>
          <p:cNvGraphicFramePr/>
          <p:nvPr/>
        </p:nvGraphicFramePr>
        <p:xfrm>
          <a:off x="457200" y="1627632"/>
          <a:ext cx="576072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57200" y="4956048"/>
            <a:ext cx="5760720" cy="1051560"/>
          </a:xfrm>
          <a:prstGeom prst="roundRect">
            <a:avLst>
              <a:gd name="adj" fmla="val 5217"/>
            </a:avLst>
          </a:prstGeom>
          <a:solidFill>
            <a:srgbClr val="8E1F2F"/>
          </a:solidFill>
          <a:ln/>
        </p:spPr>
      </p:sp>
      <p:sp>
        <p:nvSpPr>
          <p:cNvPr id="6" name="Text 3"/>
          <p:cNvSpPr/>
          <p:nvPr/>
        </p:nvSpPr>
        <p:spPr>
          <a:xfrm>
            <a:off x="640080" y="4956048"/>
            <a:ext cx="5394960" cy="1051560"/>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−74.5% average latency • 100% request success (Table 5.1)</a:t>
            </a:r>
            <a:endParaRPr lang="en-US" sz="1250" dirty="0"/>
          </a:p>
        </p:txBody>
      </p:sp>
      <p:sp>
        <p:nvSpPr>
          <p:cNvPr id="7" name="Shape 4"/>
          <p:cNvSpPr/>
          <p:nvPr/>
        </p:nvSpPr>
        <p:spPr>
          <a:xfrm>
            <a:off x="6446520" y="1627632"/>
            <a:ext cx="5257800" cy="2286000"/>
          </a:xfrm>
          <a:prstGeom prst="roundRect">
            <a:avLst>
              <a:gd name="adj" fmla="val 2800"/>
            </a:avLst>
          </a:prstGeom>
          <a:solidFill>
            <a:srgbClr val="541016"/>
          </a:solidFill>
          <a:ln/>
        </p:spPr>
      </p:sp>
      <p:sp>
        <p:nvSpPr>
          <p:cNvPr id="8" name="Text 5"/>
          <p:cNvSpPr/>
          <p:nvPr/>
        </p:nvSpPr>
        <p:spPr>
          <a:xfrm>
            <a:off x="6675120" y="1783080"/>
            <a:ext cx="4572000" cy="320040"/>
          </a:xfrm>
          <a:prstGeom prst="rect">
            <a:avLst/>
          </a:prstGeom>
          <a:noFill/>
          <a:ln/>
        </p:spPr>
        <p:txBody>
          <a:bodyPr wrap="square" lIns="0" tIns="0" rIns="0" bIns="0" rtlCol="0" anchor="ctr"/>
          <a:lstStyle/>
          <a:p>
            <a:pPr marL="0" indent="0">
              <a:buNone/>
            </a:pPr>
            <a:r>
              <a:rPr lang="en-US" sz="1250" b="1" dirty="0">
                <a:solidFill>
                  <a:srgbClr val="B23A4E"/>
                </a:solidFill>
                <a:latin typeface="Calibri" pitchFamily="34" charset="0"/>
                <a:ea typeface="Calibri" pitchFamily="34" charset="-122"/>
                <a:cs typeface="Calibri" pitchFamily="34" charset="-120"/>
              </a:rPr>
              <a:t>Backend Storage &amp; Isolation</a:t>
            </a:r>
            <a:endParaRPr lang="en-US" sz="1250" dirty="0"/>
          </a:p>
        </p:txBody>
      </p:sp>
      <p:sp>
        <p:nvSpPr>
          <p:cNvPr id="9" name="Text 6"/>
          <p:cNvSpPr/>
          <p:nvPr/>
        </p:nvSpPr>
        <p:spPr>
          <a:xfrm>
            <a:off x="6675120" y="2176272"/>
            <a:ext cx="48463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&lt; 1.2 ms  </a:t>
            </a:r>
            <a:r>
              <a:rPr lang="en-US" sz="1150" dirty="0">
                <a:solidFill>
                  <a:srgbClr val="D9C4BE"/>
                </a:solidFill>
                <a:latin typeface="Calibri" pitchFamily="34" charset="0"/>
                <a:ea typeface="Calibri" pitchFamily="34" charset="-122"/>
                <a:cs typeface="Calibri" pitchFamily="34" charset="-120"/>
              </a:rPr>
              <a:t>average file read</a:t>
            </a:r>
            <a:endParaRPr lang="en-US" sz="1150" dirty="0"/>
          </a:p>
        </p:txBody>
      </p:sp>
      <p:sp>
        <p:nvSpPr>
          <p:cNvPr id="10" name="Text 7"/>
          <p:cNvSpPr/>
          <p:nvPr/>
        </p:nvSpPr>
        <p:spPr>
          <a:xfrm>
            <a:off x="6675120" y="2542032"/>
            <a:ext cx="48463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&lt; 4.5 ms  </a:t>
            </a:r>
            <a:r>
              <a:rPr lang="en-US" sz="1150" dirty="0">
                <a:solidFill>
                  <a:srgbClr val="D9C4BE"/>
                </a:solidFill>
                <a:latin typeface="Calibri" pitchFamily="34" charset="0"/>
                <a:ea typeface="Calibri" pitchFamily="34" charset="-122"/>
                <a:cs typeface="Calibri" pitchFamily="34" charset="-120"/>
              </a:rPr>
              <a:t>average file write</a:t>
            </a:r>
            <a:endParaRPr lang="en-US" sz="1150" dirty="0"/>
          </a:p>
        </p:txBody>
      </p:sp>
      <p:sp>
        <p:nvSpPr>
          <p:cNvPr id="11" name="Text 8"/>
          <p:cNvSpPr/>
          <p:nvPr/>
        </p:nvSpPr>
        <p:spPr>
          <a:xfrm>
            <a:off x="6675120" y="2907792"/>
            <a:ext cx="48463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~42 MB  </a:t>
            </a:r>
            <a:r>
              <a:rPr lang="en-US" sz="1150" dirty="0">
                <a:solidFill>
                  <a:srgbClr val="D9C4BE"/>
                </a:solidFill>
                <a:latin typeface="Calibri" pitchFamily="34" charset="0"/>
                <a:ea typeface="Calibri" pitchFamily="34" charset="-122"/>
                <a:cs typeface="Calibri" pitchFamily="34" charset="-120"/>
              </a:rPr>
              <a:t>stable memory footprint (3-hour window)</a:t>
            </a:r>
            <a:endParaRPr lang="en-US" sz="1150" dirty="0"/>
          </a:p>
        </p:txBody>
      </p:sp>
      <p:sp>
        <p:nvSpPr>
          <p:cNvPr id="12" name="Text 9"/>
          <p:cNvSpPr/>
          <p:nvPr/>
        </p:nvSpPr>
        <p:spPr>
          <a:xfrm>
            <a:off x="6675120" y="3273552"/>
            <a:ext cx="4846320" cy="32918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0 leaks  </a:t>
            </a:r>
            <a:r>
              <a:rPr lang="en-US" sz="1150" dirty="0">
                <a:solidFill>
                  <a:srgbClr val="D9C4BE"/>
                </a:solidFill>
                <a:latin typeface="Calibri" pitchFamily="34" charset="0"/>
                <a:ea typeface="Calibri" pitchFamily="34" charset="-122"/>
                <a:cs typeface="Calibri" pitchFamily="34" charset="-120"/>
              </a:rPr>
              <a:t>confirmed across 5 concurrent sessions</a:t>
            </a:r>
            <a:endParaRPr lang="en-US" sz="1150" dirty="0"/>
          </a:p>
        </p:txBody>
      </p:sp>
      <p:sp>
        <p:nvSpPr>
          <p:cNvPr id="13" name="Shape 10"/>
          <p:cNvSpPr/>
          <p:nvPr/>
        </p:nvSpPr>
        <p:spPr>
          <a:xfrm>
            <a:off x="6446520" y="4041648"/>
            <a:ext cx="5257800" cy="1965960"/>
          </a:xfrm>
          <a:prstGeom prst="roundRect">
            <a:avLst>
              <a:gd name="adj" fmla="val 3256"/>
            </a:avLst>
          </a:prstGeom>
          <a:solidFill>
            <a:srgbClr val="FFFFFF"/>
          </a:solidFill>
          <a:ln/>
          <a:effectLst>
            <a:outerShdw blurRad="76200" dist="25400" dir="2700000" algn="bl" rotWithShape="0">
              <a:srgbClr val="000000">
                <a:alpha val="8000"/>
              </a:srgbClr>
            </a:outerShdw>
          </a:effectLst>
        </p:spPr>
      </p:sp>
      <p:sp>
        <p:nvSpPr>
          <p:cNvPr id="14" name="Text 11"/>
          <p:cNvSpPr/>
          <p:nvPr/>
        </p:nvSpPr>
        <p:spPr>
          <a:xfrm>
            <a:off x="6675120" y="4187952"/>
            <a:ext cx="4754880" cy="320040"/>
          </a:xfrm>
          <a:prstGeom prst="rect">
            <a:avLst/>
          </a:prstGeom>
          <a:noFill/>
          <a:ln/>
        </p:spPr>
        <p:txBody>
          <a:bodyPr wrap="square" lIns="0" tIns="0" rIns="0" bIns="0" rtlCol="0" anchor="ctr"/>
          <a:lstStyle/>
          <a:p>
            <a:pPr marL="0" indent="0">
              <a:buNone/>
            </a:pPr>
            <a:r>
              <a:rPr lang="en-US" sz="1250" b="1" dirty="0">
                <a:solidFill>
                  <a:srgbClr val="8E1F2F"/>
                </a:solidFill>
                <a:latin typeface="Calibri" pitchFamily="34" charset="0"/>
                <a:ea typeface="Calibri" pitchFamily="34" charset="-122"/>
                <a:cs typeface="Calibri" pitchFamily="34" charset="-120"/>
              </a:rPr>
              <a:t>Frontend Latency &amp; Verification</a:t>
            </a:r>
            <a:endParaRPr lang="en-US" sz="1250" dirty="0"/>
          </a:p>
        </p:txBody>
      </p:sp>
      <p:sp>
        <p:nvSpPr>
          <p:cNvPr id="15" name="Text 12"/>
          <p:cNvSpPr/>
          <p:nvPr/>
        </p:nvSpPr>
        <p:spPr>
          <a:xfrm>
            <a:off x="6675120" y="4572000"/>
            <a:ext cx="4846320" cy="365760"/>
          </a:xfrm>
          <a:prstGeom prst="rect">
            <a:avLst/>
          </a:prstGeom>
          <a:noFill/>
          <a:ln/>
        </p:spPr>
        <p:txBody>
          <a:bodyPr wrap="square" lIns="0" tIns="0" rIns="0" bIns="0" rtlCol="0" anchor="ctr"/>
          <a:lstStyle/>
          <a:p>
            <a:pPr marL="0" indent="0">
              <a:buNone/>
            </a:pPr>
            <a:r>
              <a:rPr lang="en-US" sz="1150" b="1" dirty="0">
                <a:solidFill>
                  <a:srgbClr val="2A0D10"/>
                </a:solidFill>
                <a:latin typeface="Calibri" pitchFamily="34" charset="0"/>
                <a:ea typeface="Calibri" pitchFamily="34" charset="-122"/>
                <a:cs typeface="Calibri" pitchFamily="34" charset="-120"/>
              </a:rPr>
              <a:t>290 ms  </a:t>
            </a:r>
            <a:r>
              <a:rPr lang="en-US" sz="1150" dirty="0">
                <a:solidFill>
                  <a:srgbClr val="6B4B47"/>
                </a:solidFill>
                <a:latin typeface="Calibri" pitchFamily="34" charset="0"/>
                <a:ea typeface="Calibri" pitchFamily="34" charset="-122"/>
                <a:cs typeface="Calibri" pitchFamily="34" charset="-120"/>
              </a:rPr>
              <a:t>avg. end-to-end (σ = 18 ms, n = 100)</a:t>
            </a:r>
            <a:endParaRPr lang="en-US" sz="1150" dirty="0"/>
          </a:p>
        </p:txBody>
      </p:sp>
      <p:sp>
        <p:nvSpPr>
          <p:cNvPr id="16" name="Text 13"/>
          <p:cNvSpPr/>
          <p:nvPr/>
        </p:nvSpPr>
        <p:spPr>
          <a:xfrm>
            <a:off x="6675120" y="4974336"/>
            <a:ext cx="4846320" cy="365760"/>
          </a:xfrm>
          <a:prstGeom prst="rect">
            <a:avLst/>
          </a:prstGeom>
          <a:noFill/>
          <a:ln/>
        </p:spPr>
        <p:txBody>
          <a:bodyPr wrap="square" lIns="0" tIns="0" rIns="0" bIns="0" rtlCol="0" anchor="ctr"/>
          <a:lstStyle/>
          <a:p>
            <a:pPr marL="0" indent="0">
              <a:buNone/>
            </a:pPr>
            <a:r>
              <a:rPr lang="en-US" sz="1150" b="1" dirty="0">
                <a:solidFill>
                  <a:srgbClr val="2A0D10"/>
                </a:solidFill>
                <a:latin typeface="Calibri" pitchFamily="34" charset="0"/>
                <a:ea typeface="Calibri" pitchFamily="34" charset="-122"/>
                <a:cs typeface="Calibri" pitchFamily="34" charset="-120"/>
              </a:rPr>
              <a:t>7 / 7  </a:t>
            </a:r>
            <a:r>
              <a:rPr lang="en-US" sz="1150" dirty="0">
                <a:solidFill>
                  <a:srgbClr val="6B4B47"/>
                </a:solidFill>
                <a:latin typeface="Calibri" pitchFamily="34" charset="0"/>
                <a:ea typeface="Calibri" pitchFamily="34" charset="-122"/>
                <a:cs typeface="Calibri" pitchFamily="34" charset="-120"/>
              </a:rPr>
              <a:t>functional test cases passed</a:t>
            </a:r>
            <a:endParaRPr lang="en-US" sz="1150" dirty="0"/>
          </a:p>
        </p:txBody>
      </p:sp>
      <p:sp>
        <p:nvSpPr>
          <p:cNvPr id="17" name="Text 14"/>
          <p:cNvSpPr/>
          <p:nvPr/>
        </p:nvSpPr>
        <p:spPr>
          <a:xfrm>
            <a:off x="6675120" y="5376672"/>
            <a:ext cx="4846320" cy="365760"/>
          </a:xfrm>
          <a:prstGeom prst="rect">
            <a:avLst/>
          </a:prstGeom>
          <a:noFill/>
          <a:ln/>
        </p:spPr>
        <p:txBody>
          <a:bodyPr wrap="square" lIns="0" tIns="0" rIns="0" bIns="0" rtlCol="0" anchor="ctr"/>
          <a:lstStyle/>
          <a:p>
            <a:pPr marL="0" indent="0">
              <a:buNone/>
            </a:pPr>
            <a:r>
              <a:rPr lang="en-US" sz="1150" b="1" dirty="0">
                <a:solidFill>
                  <a:srgbClr val="2A0D10"/>
                </a:solidFill>
                <a:latin typeface="Calibri" pitchFamily="34" charset="0"/>
                <a:ea typeface="Calibri" pitchFamily="34" charset="-122"/>
                <a:cs typeface="Calibri" pitchFamily="34" charset="-120"/>
              </a:rPr>
              <a:t>WCAG AA  </a:t>
            </a:r>
            <a:r>
              <a:rPr lang="en-US" sz="1150" dirty="0">
                <a:solidFill>
                  <a:srgbClr val="6B4B47"/>
                </a:solidFill>
                <a:latin typeface="Calibri" pitchFamily="34" charset="0"/>
                <a:ea typeface="Calibri" pitchFamily="34" charset="-122"/>
                <a:cs typeface="Calibri" pitchFamily="34" charset="-120"/>
              </a:rPr>
              <a:t>contrast verified at 1920 / 768 / 360 px</a:t>
            </a:r>
            <a:endParaRPr lang="en-US" sz="1150" dirty="0"/>
          </a:p>
        </p:txBody>
      </p:sp>
      <p:sp>
        <p:nvSpPr>
          <p:cNvPr id="18" name="Text 15"/>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19" name="Text 1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541016"/>
        </a:solidFill>
        <a:effectLst/>
      </p:bgPr>
    </p:bg>
    <p:spTree>
      <p:nvGrpSpPr>
        <p:cNvPr id="1" name=""/>
        <p:cNvGrpSpPr/>
        <p:nvPr/>
      </p:nvGrpSpPr>
      <p:grpSpPr>
        <a:xfrm>
          <a:off x="0" y="0"/>
          <a:ext cx="0" cy="0"/>
          <a:chOff x="0" y="0"/>
          <a:chExt cx="0" cy="0"/>
        </a:xfrm>
      </p:grpSpPr>
      <p:sp>
        <p:nvSpPr>
          <p:cNvPr id="2" name="Shape 0"/>
          <p:cNvSpPr/>
          <p:nvPr/>
        </p:nvSpPr>
        <p:spPr>
          <a:xfrm>
            <a:off x="9052560" y="-2103120"/>
            <a:ext cx="5669280" cy="5669280"/>
          </a:xfrm>
          <a:prstGeom prst="ellipse">
            <a:avLst/>
          </a:prstGeom>
          <a:solidFill>
            <a:srgbClr val="8E1F2F">
              <a:alpha val="38000"/>
            </a:srgbClr>
          </a:solidFill>
          <a:ln/>
        </p:spPr>
      </p:sp>
      <p:sp>
        <p:nvSpPr>
          <p:cNvPr id="3" name="Text 1"/>
          <p:cNvSpPr/>
          <p:nvPr/>
        </p:nvSpPr>
        <p:spPr>
          <a:xfrm>
            <a:off x="502920" y="365760"/>
            <a:ext cx="9144000" cy="292608"/>
          </a:xfrm>
          <a:prstGeom prst="rect">
            <a:avLst/>
          </a:prstGeom>
          <a:noFill/>
          <a:ln/>
        </p:spPr>
        <p:txBody>
          <a:bodyPr wrap="square" lIns="0" tIns="0" rIns="0" bIns="0" rtlCol="0" anchor="ctr"/>
          <a:lstStyle/>
          <a:p>
            <a:pPr marL="0" indent="0">
              <a:buNone/>
            </a:pPr>
            <a:r>
              <a:rPr lang="en-US" sz="1250" b="1" kern="0" spc="200" dirty="0">
                <a:solidFill>
                  <a:srgbClr val="B23A4E"/>
                </a:solidFill>
                <a:latin typeface="Calibri" pitchFamily="34" charset="0"/>
                <a:ea typeface="Calibri" pitchFamily="34" charset="-122"/>
                <a:cs typeface="Calibri" pitchFamily="34" charset="-120"/>
              </a:rPr>
              <a:t>CONCLUSION AND FUTURE WORK</a:t>
            </a:r>
            <a:endParaRPr lang="en-US" sz="1250" dirty="0"/>
          </a:p>
        </p:txBody>
      </p:sp>
      <p:sp>
        <p:nvSpPr>
          <p:cNvPr id="4" name="Text 2"/>
          <p:cNvSpPr/>
          <p:nvPr/>
        </p:nvSpPr>
        <p:spPr>
          <a:xfrm>
            <a:off x="502920" y="640080"/>
            <a:ext cx="10789920" cy="77724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Adaptive intelligence, paired with an accessible interface</a:t>
            </a:r>
            <a:endParaRPr lang="en-US" sz="2400" dirty="0"/>
          </a:p>
        </p:txBody>
      </p:sp>
      <p:sp>
        <p:nvSpPr>
          <p:cNvPr id="5" name="Text 3"/>
          <p:cNvSpPr/>
          <p:nvPr/>
        </p:nvSpPr>
        <p:spPr>
          <a:xfrm>
            <a:off x="502920" y="1554480"/>
            <a:ext cx="10607040" cy="914400"/>
          </a:xfrm>
          <a:prstGeom prst="rect">
            <a:avLst/>
          </a:prstGeom>
          <a:noFill/>
          <a:ln/>
        </p:spPr>
        <p:txBody>
          <a:bodyPr wrap="square" lIns="0" tIns="0" rIns="0" bIns="0" rtlCol="0" anchor="ctr"/>
          <a:lstStyle/>
          <a:p>
            <a:pPr marL="0" indent="0">
              <a:buNone/>
            </a:pPr>
            <a:r>
              <a:rPr lang="en-US" sz="1350" dirty="0">
                <a:solidFill>
                  <a:srgbClr val="E9D4CE"/>
                </a:solidFill>
                <a:latin typeface="Calibri" pitchFamily="34" charset="0"/>
                <a:ea typeface="Calibri" pitchFamily="34" charset="-122"/>
                <a:cs typeface="Calibri" pitchFamily="34" charset="-120"/>
              </a:rPr>
              <a:t>Personalized accuracy was achieved without parameter-level retraining, and a low-latency, accessible presentation layer was achieved without an external UI framework — validating the project's zero-cost architectural constraints.</a:t>
            </a:r>
            <a:endParaRPr lang="en-US" sz="1350" dirty="0"/>
          </a:p>
        </p:txBody>
      </p:sp>
      <p:sp>
        <p:nvSpPr>
          <p:cNvPr id="6" name="Shape 4"/>
          <p:cNvSpPr/>
          <p:nvPr/>
        </p:nvSpPr>
        <p:spPr>
          <a:xfrm>
            <a:off x="502920" y="2697480"/>
            <a:ext cx="3429000" cy="1965960"/>
          </a:xfrm>
          <a:prstGeom prst="roundRect">
            <a:avLst>
              <a:gd name="adj" fmla="val 3256"/>
            </a:avLst>
          </a:prstGeom>
          <a:solidFill>
            <a:srgbClr val="6E1620"/>
          </a:solidFill>
          <a:ln/>
        </p:spPr>
      </p:sp>
      <p:sp>
        <p:nvSpPr>
          <p:cNvPr id="7" name="Text 5"/>
          <p:cNvSpPr/>
          <p:nvPr/>
        </p:nvSpPr>
        <p:spPr>
          <a:xfrm>
            <a:off x="731520" y="2880360"/>
            <a:ext cx="2971800" cy="457200"/>
          </a:xfrm>
          <a:prstGeom prst="rect">
            <a:avLst/>
          </a:prstGeom>
          <a:noFill/>
          <a:ln/>
        </p:spPr>
        <p:txBody>
          <a:bodyPr wrap="square" lIns="0" tIns="0" rIns="0" bIns="0" rtlCol="0" anchor="ctr"/>
          <a:lstStyle/>
          <a:p>
            <a:pPr marL="0" indent="0">
              <a:buNone/>
            </a:pPr>
            <a:r>
              <a:rPr lang="en-US" sz="1400" b="1" dirty="0">
                <a:solidFill>
                  <a:srgbClr val="B23A4E"/>
                </a:solidFill>
                <a:latin typeface="Calibri" pitchFamily="34" charset="0"/>
                <a:ea typeface="Calibri" pitchFamily="34" charset="-122"/>
                <a:cs typeface="Calibri" pitchFamily="34" charset="-120"/>
              </a:rPr>
              <a:t>Adaptive Memory</a:t>
            </a:r>
            <a:endParaRPr lang="en-US" sz="1400" dirty="0"/>
          </a:p>
        </p:txBody>
      </p:sp>
      <p:sp>
        <p:nvSpPr>
          <p:cNvPr id="8" name="Text 6"/>
          <p:cNvSpPr/>
          <p:nvPr/>
        </p:nvSpPr>
        <p:spPr>
          <a:xfrm>
            <a:off x="731520" y="3337560"/>
            <a:ext cx="2971800" cy="1234440"/>
          </a:xfrm>
          <a:prstGeom prst="rect">
            <a:avLst/>
          </a:prstGeom>
          <a:noFill/>
          <a:ln/>
        </p:spPr>
        <p:txBody>
          <a:bodyPr wrap="square" lIns="0" tIns="0" rIns="0" bIns="0" rtlCol="0" anchor="ctr"/>
          <a:lstStyle/>
          <a:p>
            <a:pPr marL="0" indent="0">
              <a:buNone/>
            </a:pPr>
            <a:r>
              <a:rPr lang="en-US" sz="1100" dirty="0">
                <a:solidFill>
                  <a:srgbClr val="D9C4BE"/>
                </a:solidFill>
                <a:latin typeface="Calibri" pitchFamily="34" charset="0"/>
                <a:ea typeface="Calibri" pitchFamily="34" charset="-122"/>
                <a:cs typeface="Calibri" pitchFamily="34" charset="-120"/>
              </a:rPr>
              <a:t>Corrections persist and are re-injected into every prompt without fine-tuning (Tamta, Ch. 4).</a:t>
            </a:r>
            <a:endParaRPr lang="en-US" sz="1100" dirty="0"/>
          </a:p>
        </p:txBody>
      </p:sp>
      <p:sp>
        <p:nvSpPr>
          <p:cNvPr id="9" name="Shape 7"/>
          <p:cNvSpPr/>
          <p:nvPr/>
        </p:nvSpPr>
        <p:spPr>
          <a:xfrm>
            <a:off x="4224528" y="2697480"/>
            <a:ext cx="3429000" cy="1965960"/>
          </a:xfrm>
          <a:prstGeom prst="roundRect">
            <a:avLst>
              <a:gd name="adj" fmla="val 3256"/>
            </a:avLst>
          </a:prstGeom>
          <a:solidFill>
            <a:srgbClr val="6E1620"/>
          </a:solidFill>
          <a:ln/>
        </p:spPr>
      </p:sp>
      <p:sp>
        <p:nvSpPr>
          <p:cNvPr id="10" name="Text 8"/>
          <p:cNvSpPr/>
          <p:nvPr/>
        </p:nvSpPr>
        <p:spPr>
          <a:xfrm>
            <a:off x="4453128" y="2880360"/>
            <a:ext cx="2971800" cy="457200"/>
          </a:xfrm>
          <a:prstGeom prst="rect">
            <a:avLst/>
          </a:prstGeom>
          <a:noFill/>
          <a:ln/>
        </p:spPr>
        <p:txBody>
          <a:bodyPr wrap="square" lIns="0" tIns="0" rIns="0" bIns="0" rtlCol="0" anchor="ctr"/>
          <a:lstStyle/>
          <a:p>
            <a:pPr marL="0" indent="0">
              <a:buNone/>
            </a:pPr>
            <a:r>
              <a:rPr lang="en-US" sz="1400" b="1" dirty="0">
                <a:solidFill>
                  <a:srgbClr val="B23A4E"/>
                </a:solidFill>
                <a:latin typeface="Calibri" pitchFamily="34" charset="0"/>
                <a:ea typeface="Calibri" pitchFamily="34" charset="-122"/>
                <a:cs typeface="Calibri" pitchFamily="34" charset="-120"/>
              </a:rPr>
              <a:t>Accessible Interface</a:t>
            </a:r>
            <a:endParaRPr lang="en-US" sz="1400" dirty="0"/>
          </a:p>
        </p:txBody>
      </p:sp>
      <p:sp>
        <p:nvSpPr>
          <p:cNvPr id="11" name="Text 9"/>
          <p:cNvSpPr/>
          <p:nvPr/>
        </p:nvSpPr>
        <p:spPr>
          <a:xfrm>
            <a:off x="4453128" y="3337560"/>
            <a:ext cx="2971800" cy="1234440"/>
          </a:xfrm>
          <a:prstGeom prst="rect">
            <a:avLst/>
          </a:prstGeom>
          <a:noFill/>
          <a:ln/>
        </p:spPr>
        <p:txBody>
          <a:bodyPr wrap="square" lIns="0" tIns="0" rIns="0" bIns="0" rtlCol="0" anchor="ctr"/>
          <a:lstStyle/>
          <a:p>
            <a:pPr marL="0" indent="0">
              <a:buNone/>
            </a:pPr>
            <a:r>
              <a:rPr lang="en-US" sz="1100" dirty="0">
                <a:solidFill>
                  <a:srgbClr val="D9C4BE"/>
                </a:solidFill>
                <a:latin typeface="Calibri" pitchFamily="34" charset="0"/>
                <a:ea typeface="Calibri" pitchFamily="34" charset="-122"/>
                <a:cs typeface="Calibri" pitchFamily="34" charset="-120"/>
              </a:rPr>
              <a:t>A framework-free, WCAG AA-verified design system stable under unpredictable content (Nino, §7).</a:t>
            </a:r>
            <a:endParaRPr lang="en-US" sz="1100" dirty="0"/>
          </a:p>
        </p:txBody>
      </p:sp>
      <p:sp>
        <p:nvSpPr>
          <p:cNvPr id="12" name="Shape 10"/>
          <p:cNvSpPr/>
          <p:nvPr/>
        </p:nvSpPr>
        <p:spPr>
          <a:xfrm>
            <a:off x="7946136" y="2697480"/>
            <a:ext cx="3429000" cy="1965960"/>
          </a:xfrm>
          <a:prstGeom prst="roundRect">
            <a:avLst>
              <a:gd name="adj" fmla="val 3256"/>
            </a:avLst>
          </a:prstGeom>
          <a:solidFill>
            <a:srgbClr val="6E1620"/>
          </a:solidFill>
          <a:ln/>
        </p:spPr>
      </p:sp>
      <p:sp>
        <p:nvSpPr>
          <p:cNvPr id="13" name="Text 11"/>
          <p:cNvSpPr/>
          <p:nvPr/>
        </p:nvSpPr>
        <p:spPr>
          <a:xfrm>
            <a:off x="8174736" y="2880360"/>
            <a:ext cx="2971800" cy="457200"/>
          </a:xfrm>
          <a:prstGeom prst="rect">
            <a:avLst/>
          </a:prstGeom>
          <a:noFill/>
          <a:ln/>
        </p:spPr>
        <p:txBody>
          <a:bodyPr wrap="square" lIns="0" tIns="0" rIns="0" bIns="0" rtlCol="0" anchor="ctr"/>
          <a:lstStyle/>
          <a:p>
            <a:pPr marL="0" indent="0">
              <a:buNone/>
            </a:pPr>
            <a:r>
              <a:rPr lang="en-US" sz="1400" b="1" dirty="0">
                <a:solidFill>
                  <a:srgbClr val="B23A4E"/>
                </a:solidFill>
                <a:latin typeface="Calibri" pitchFamily="34" charset="0"/>
                <a:ea typeface="Calibri" pitchFamily="34" charset="-122"/>
                <a:cs typeface="Calibri" pitchFamily="34" charset="-120"/>
              </a:rPr>
              <a:t>Verified Performance</a:t>
            </a:r>
            <a:endParaRPr lang="en-US" sz="1400" dirty="0"/>
          </a:p>
        </p:txBody>
      </p:sp>
      <p:sp>
        <p:nvSpPr>
          <p:cNvPr id="14" name="Text 12"/>
          <p:cNvSpPr/>
          <p:nvPr/>
        </p:nvSpPr>
        <p:spPr>
          <a:xfrm>
            <a:off x="8174736" y="3337560"/>
            <a:ext cx="2971800" cy="1234440"/>
          </a:xfrm>
          <a:prstGeom prst="rect">
            <a:avLst/>
          </a:prstGeom>
          <a:noFill/>
          <a:ln/>
        </p:spPr>
        <p:txBody>
          <a:bodyPr wrap="square" lIns="0" tIns="0" rIns="0" bIns="0" rtlCol="0" anchor="ctr"/>
          <a:lstStyle/>
          <a:p>
            <a:pPr marL="0" indent="0">
              <a:buNone/>
            </a:pPr>
            <a:r>
              <a:rPr lang="en-US" sz="1100" dirty="0">
                <a:solidFill>
                  <a:srgbClr val="D9C4BE"/>
                </a:solidFill>
                <a:latin typeface="Calibri" pitchFamily="34" charset="0"/>
                <a:ea typeface="Calibri" pitchFamily="34" charset="-122"/>
                <a:cs typeface="Calibri" pitchFamily="34" charset="-120"/>
              </a:rPr>
              <a:t>~74.5% latency reduction; 290 ms average end-to-end response; 7/7 tests passed.</a:t>
            </a:r>
            <a:endParaRPr lang="en-US" sz="1100" dirty="0"/>
          </a:p>
        </p:txBody>
      </p:sp>
      <p:sp>
        <p:nvSpPr>
          <p:cNvPr id="15" name="Shape 13"/>
          <p:cNvSpPr/>
          <p:nvPr/>
        </p:nvSpPr>
        <p:spPr>
          <a:xfrm>
            <a:off x="502920" y="4983480"/>
            <a:ext cx="11201400" cy="1188720"/>
          </a:xfrm>
          <a:prstGeom prst="roundRect">
            <a:avLst>
              <a:gd name="adj" fmla="val 5385"/>
            </a:avLst>
          </a:prstGeom>
          <a:solidFill>
            <a:srgbClr val="8E1F2F"/>
          </a:solidFill>
          <a:ln/>
        </p:spPr>
      </p:sp>
      <p:sp>
        <p:nvSpPr>
          <p:cNvPr id="16" name="Text 14"/>
          <p:cNvSpPr/>
          <p:nvPr/>
        </p:nvSpPr>
        <p:spPr>
          <a:xfrm>
            <a:off x="777240" y="4983480"/>
            <a:ext cx="10652760" cy="1188720"/>
          </a:xfrm>
          <a:prstGeom prst="rect">
            <a:avLst/>
          </a:prstGeom>
          <a:noFill/>
          <a:ln/>
        </p:spPr>
        <p:txBody>
          <a:bodyPr wrap="square" lIns="0" tIns="0" rIns="0" bIns="0"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Future Work: migration to PostgreSQL for concurrency-safe, atomic storage (both theses) • component-based front-end architecture (Nino) • asynchronous request handling and an expanded Georgian factual dataset (Tamta)</a:t>
            </a:r>
            <a:endParaRPr lang="en-US" sz="1150" dirty="0"/>
          </a:p>
        </p:txBody>
      </p:sp>
      <p:sp>
        <p:nvSpPr>
          <p:cNvPr id="17" name="Text 15"/>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18" name="Text 1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541016"/>
        </a:solidFill>
        <a:effectLst/>
      </p:bgPr>
    </p:bg>
    <p:spTree>
      <p:nvGrpSpPr>
        <p:cNvPr id="1" name=""/>
        <p:cNvGrpSpPr/>
        <p:nvPr/>
      </p:nvGrpSpPr>
      <p:grpSpPr>
        <a:xfrm>
          <a:off x="0" y="0"/>
          <a:ext cx="0" cy="0"/>
          <a:chOff x="0" y="0"/>
          <a:chExt cx="0" cy="0"/>
        </a:xfrm>
      </p:grpSpPr>
      <p:sp>
        <p:nvSpPr>
          <p:cNvPr id="2" name="Shape 0"/>
          <p:cNvSpPr/>
          <p:nvPr/>
        </p:nvSpPr>
        <p:spPr>
          <a:xfrm>
            <a:off x="-2103120" y="-2377440"/>
            <a:ext cx="5669280" cy="5669280"/>
          </a:xfrm>
          <a:prstGeom prst="ellipse">
            <a:avLst/>
          </a:prstGeom>
          <a:solidFill>
            <a:srgbClr val="8E1F2F">
              <a:alpha val="38000"/>
            </a:srgbClr>
          </a:solidFill>
          <a:ln/>
        </p:spPr>
      </p:sp>
      <p:sp>
        <p:nvSpPr>
          <p:cNvPr id="3" name="Shape 1"/>
          <p:cNvSpPr/>
          <p:nvPr/>
        </p:nvSpPr>
        <p:spPr>
          <a:xfrm>
            <a:off x="9601200" y="3931920"/>
            <a:ext cx="4389120" cy="4389120"/>
          </a:xfrm>
          <a:prstGeom prst="ellipse">
            <a:avLst/>
          </a:prstGeom>
          <a:solidFill>
            <a:srgbClr val="8E1F2F">
              <a:alpha val="28000"/>
            </a:srgbClr>
          </a:solidFill>
          <a:ln/>
        </p:spPr>
      </p:sp>
      <p:sp>
        <p:nvSpPr>
          <p:cNvPr id="4" name="Text 2"/>
          <p:cNvSpPr/>
          <p:nvPr/>
        </p:nvSpPr>
        <p:spPr>
          <a:xfrm>
            <a:off x="0" y="2377440"/>
            <a:ext cx="12188952" cy="1097280"/>
          </a:xfrm>
          <a:prstGeom prst="rect">
            <a:avLst/>
          </a:prstGeom>
          <a:noFill/>
          <a:ln/>
        </p:spPr>
        <p:txBody>
          <a:bodyPr wrap="square" lIns="0" tIns="0" rIns="0" bIns="0" rtlCol="0" anchor="ctr"/>
          <a:lstStyle/>
          <a:p>
            <a:pPr marL="0" indent="0" algn="ctr">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5" name="Text 3"/>
          <p:cNvSpPr/>
          <p:nvPr/>
        </p:nvSpPr>
        <p:spPr>
          <a:xfrm>
            <a:off x="0" y="3401568"/>
            <a:ext cx="12188952" cy="548640"/>
          </a:xfrm>
          <a:prstGeom prst="rect">
            <a:avLst/>
          </a:prstGeom>
          <a:noFill/>
          <a:ln/>
        </p:spPr>
        <p:txBody>
          <a:bodyPr wrap="square" lIns="0" tIns="0" rIns="0" bIns="0" rtlCol="0" anchor="ctr"/>
          <a:lstStyle/>
          <a:p>
            <a:pPr marL="0" indent="0" algn="ctr">
              <a:buNone/>
            </a:pPr>
            <a:r>
              <a:rPr lang="en-US" sz="1800" dirty="0">
                <a:solidFill>
                  <a:srgbClr val="E9D4CE"/>
                </a:solidFill>
                <a:latin typeface="Calibri" pitchFamily="34" charset="0"/>
                <a:ea typeface="Calibri" pitchFamily="34" charset="-122"/>
                <a:cs typeface="Calibri" pitchFamily="34" charset="-120"/>
              </a:rPr>
              <a:t>Questions and Discussion</a:t>
            </a:r>
            <a:endParaRPr lang="en-US" sz="1800" dirty="0"/>
          </a:p>
        </p:txBody>
      </p:sp>
      <p:sp>
        <p:nvSpPr>
          <p:cNvPr id="6" name="Shape 4"/>
          <p:cNvSpPr/>
          <p:nvPr/>
        </p:nvSpPr>
        <p:spPr>
          <a:xfrm>
            <a:off x="5454396" y="4096512"/>
            <a:ext cx="1280160" cy="0"/>
          </a:xfrm>
          <a:prstGeom prst="line">
            <a:avLst/>
          </a:prstGeom>
          <a:noFill/>
          <a:ln w="38100">
            <a:solidFill>
              <a:srgbClr val="B23A4E"/>
            </a:solidFill>
            <a:prstDash val="solid"/>
          </a:ln>
        </p:spPr>
      </p:sp>
      <p:sp>
        <p:nvSpPr>
          <p:cNvPr id="7" name="Text 5"/>
          <p:cNvSpPr/>
          <p:nvPr/>
        </p:nvSpPr>
        <p:spPr>
          <a:xfrm>
            <a:off x="0" y="4315968"/>
            <a:ext cx="12188952" cy="457200"/>
          </a:xfrm>
          <a:prstGeom prst="rect">
            <a:avLst/>
          </a:prstGeom>
          <a:noFill/>
          <a:ln/>
        </p:spPr>
        <p:txBody>
          <a:bodyPr wrap="square" lIns="0" tIns="0" rIns="0" bIns="0" rtlCol="0" anchor="ctr"/>
          <a:lstStyle/>
          <a:p>
            <a:pPr marL="0" indent="0" algn="ctr">
              <a:buNone/>
            </a:pPr>
            <a:r>
              <a:rPr lang="en-US" sz="1250" dirty="0">
                <a:solidFill>
                  <a:srgbClr val="C4A9A3"/>
                </a:solidFill>
                <a:latin typeface="Calibri" pitchFamily="34" charset="0"/>
                <a:ea typeface="Calibri" pitchFamily="34" charset="-122"/>
                <a:cs typeface="Calibri" pitchFamily="34" charset="-120"/>
              </a:rPr>
              <a:t>Tamta Termakozashvili  &amp;  Nino Khorava  •  Supervisor: Mariam Chkhaidze</a:t>
            </a:r>
            <a:endParaRPr lang="en-US" sz="1250" dirty="0"/>
          </a:p>
        </p:txBody>
      </p:sp>
      <p:sp>
        <p:nvSpPr>
          <p:cNvPr id="8" name="Text 6"/>
          <p:cNvSpPr/>
          <p:nvPr/>
        </p:nvSpPr>
        <p:spPr>
          <a:xfrm>
            <a:off x="457200" y="6492240"/>
            <a:ext cx="7315200" cy="274320"/>
          </a:xfrm>
          <a:prstGeom prst="rect">
            <a:avLst/>
          </a:prstGeom>
          <a:noFill/>
          <a:ln/>
        </p:spPr>
        <p:txBody>
          <a:bodyPr wrap="square" lIns="0" tIns="0" rIns="0" bIns="0" rtlCol="0" anchor="ctr"/>
          <a:lstStyle/>
          <a:p>
            <a:pPr marL="0" indent="0">
              <a:buNone/>
            </a:pPr>
            <a:r>
              <a:rPr lang="en-US" sz="950" dirty="0">
                <a:solidFill>
                  <a:srgbClr val="6B4B47"/>
                </a:solidFill>
                <a:latin typeface="Calibri" pitchFamily="34" charset="0"/>
                <a:ea typeface="Calibri" pitchFamily="34" charset="-122"/>
                <a:cs typeface="Calibri" pitchFamily="34" charset="-120"/>
              </a:rPr>
              <a:t>Cheff Mshia — Joint Thesis Defense</a:t>
            </a:r>
            <a:endParaRPr lang="en-US" sz="950" dirty="0"/>
          </a:p>
        </p:txBody>
      </p:sp>
      <p:sp>
        <p:nvSpPr>
          <p:cNvPr id="9" name="Text 7"/>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50" dirty="0">
                <a:solidFill>
                  <a:srgbClr val="6B4B47"/>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1998</Words>
  <Application>Microsoft Office PowerPoint</Application>
  <PresentationFormat>Widescreen</PresentationFormat>
  <Paragraphs>159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Cheff Mshia: Adaptive Memory and Interface Architecture</dc:title>
  <dc:subject>PptxGenJS Presentation</dc:subject>
  <dc:creator>Tamta Termakozashvili &amp; Nino Khorava</dc:creator>
  <cp:lastModifiedBy>tamta termakozashvili</cp:lastModifiedBy>
  <cp:revision>2</cp:revision>
  <dcterms:created xsi:type="dcterms:W3CDTF">2026-07-11T14:20:22Z</dcterms:created>
  <dcterms:modified xsi:type="dcterms:W3CDTF">2026-07-12T14:10:17Z</dcterms:modified>
</cp:coreProperties>
</file>